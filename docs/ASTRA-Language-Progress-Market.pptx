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9265a46-fce3-435b-28d3-711733ec79eb}">
          <p14:sldIdLst>
            <p14:sldId id="256"/>
            <p14:sldId id="257"/>
            <p14:sldId id="258"/>
          </p14:sldIdLst>
        </p14:section>
        <p14:section name="The formal language" id="{c7940ea1-5b4e-3f54-4301-f2cdca5f4c88}">
          <p14:sldIdLst>
            <p14:sldId id="259"/>
            <p14:sldId id="260"/>
            <p14:sldId id="261"/>
            <p14:sldId id="262"/>
            <p14:sldId id="263"/>
            <p14:sldId id="264"/>
          </p14:sldIdLst>
        </p14:section>
        <p14:section name="Current progress" id="{b0b83893-ee41-ea01-217d-4626db93aa8f}">
          <p14:sldIdLst>
            <p14:sldId id="265"/>
            <p14:sldId id="266"/>
            <p14:sldId id="267"/>
          </p14:sldIdLst>
        </p14:section>
        <p14:section name="Market and differentiation" id="{e4583ef2-f61e-ba28-4945-a33d9534069d}">
          <p14:sldIdLst>
            <p14:sldId id="268"/>
            <p14:sldId id="269"/>
            <p14:sldId id="270"/>
            <p14:sldId id="271"/>
          </p14:sldIdLst>
        </p14:section>
        <p14:section name="Next steps" id="{ab464f05-c1ec-012b-ab76-63255257e9f4}">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ASTRA is a research platform from IADS at the University of Essex. This deck covers three things: the formal modelling language and the analysis behind it, what is built today, and how ASTRA compares with the products on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estimates vary widely by definition; Mordor's AI governance platforms figure is used here and other reports range from about $0.35bn to $1.1bn for 2026. Gartner's guardian agents guide (February 2026) marks runtime supervision of agents as a category of its own. The EU AI Act's stand-alone high-risk obligations moved from August 2026 to December 2027 under the Digital Omnibus agreement. The point of the slide is the last line: design-time documentation and runtime monitoring are usually disconnected.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platform follows one life cycle. Steps 1 to 3 happen before deployment; steps 4 to 6 after. What makes ASTRA different is that the contract produced at step 3 is exactly what the runtime checks in step 5 compare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explains the modelling language and the four layers of analysis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vocabulary is defined in backend/schema.py. The five actor roles come from the Secure Tropos treatment of the AI deployment dependency chain. Because relations are typed and restricted, the language can say what a correct design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canonical AI model design. Actors are tied to the model by role-specific relations; the model is tied to its data, environment and regulatory requirements; each requirement names the security constraint that evidences it; and each constraint has an accountable actor through imposed_by. The studio picks the relation automatically from the two element types. Consent records attach to a legal basis through covered_by (not drawn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have their own element types. Rules such as ASI01 are JSON conditions over the design graph, evaluated by backend/rule_checks.py. The same engine runs organisation policies and rules approved from regulation ingestion.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1 is the review panel in the studio (reviewDesign in studio/index.html); it currently runs in the browser. Layer 2 is backend/framework/tropos_model.py, which derives the Secure Tropos model (after Mouratidis and Giorgini 2007) and evaluates each of the 12 constraints; six are veto class (DPIA, human oversight, hallucination, fairness, right to challenge, liability). Layer 3 is backend/compliance_engine.py. Layer 4 is the PCS engine; compile_design re-runs the assessment itself and never trusts a client result. Honest limit: most constraint checks rest on declared facts backed by evidence and sign-off; runtime monitoring is what tests those declarations.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runtime SDK is in sdk/python (astra-runtime). It reports tool calls, delegations, MCP connections, data access and memory writes, and never blocks the agent; optional enforcement can refuse a wrapped tool call that the contract does not allow. ModelMonitor sends model inputs and outputs for statistics only. OpenTelemetry traces can be used instead of the SDK.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shows what is built and what is still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listed has code and automated tests in the repository (backend/tests and sdk/python/tests). Identity-provider connectors cover Entra ID, Okta, Auth0 and Keycloak; repository connectors cover LangGraph, the OpenAI Agents SDK, CrewAI and MCP.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come from the repository's own 'not built' notes. The most important research gap is calibration and validation on real use cases, which is where a pilot partner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research is based on public sources from 2026; vendor comparisons are largely vendor-written, so treat them as indicative.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Credo AI now also describes an agent registry and runtime governance, so the line between the categories is blurring. Gartner expects enterprises to want independent guardian layers that work across clouds and platforms. The 'typical gap' column is our reading of public product descriptions, not a vendor-by-vendor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and most defensible difference is the first two rows together: a formal, research-grounded model of the design, and that signed model being the runtime baseline. Others have registries, policy packs or runtime inspection; ASTRA's contribution is the traceable chain from requirement to signed design to observed behaviour. Ratings for other categories are generalisations; individual vendors may do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Gartner's view that enterprises need independent guardian layers across platforms supports positioning ASTRA as independent of any single AI vendor. Its academic grounding is an advantage with public bodies and regulators.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priority is real-world validation: a pilot provides the data to calibrate the scores and the evidence for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market sources are vendor-written comparisons; figures should be checked against the analyst reports before external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28016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731520" y="3383280"/>
            <a:ext cx="10058400" cy="146304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
        <p:nvSpPr>
          <p:cNvPr id="4" name="Text 0"/>
          <p:cNvSpPr/>
          <p:nvPr/>
        </p:nvSpPr>
        <p:spPr>
          <a:xfrm>
            <a:off x="731520" y="5989320"/>
            <a:ext cx="8229600" cy="365760"/>
          </a:xfrm>
          <a:prstGeom prst="rect">
            <a:avLst/>
          </a:prstGeom>
          <a:noFill/>
          <a:ln/>
        </p:spPr>
        <p:txBody>
          <a:bodyPr wrap="square" lIns="0" tIns="0" rIns="0" bIns="0" rtlCol="0" anchor="ctr"/>
          <a:lstStyle/>
          <a:p>
            <a:pPr indent="0" marL="0">
              <a:buNone/>
            </a:pPr>
            <a:r>
              <a:rPr lang="en-US" sz="1200" dirty="0">
                <a:solidFill>
                  <a:schemeClr val="accent6"/>
                </a:solidFill>
              </a:rPr>
              <a:t>Institute for Analytics and Data Science (IADS) · University of Essex</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9728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611880"/>
            <a:ext cx="10058400" cy="109728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247120" y="630936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ASTRA · IADS, University of Essex · October 2026</a:t>
            </a:r>
            <a:endParaRPr lang="en-US" sz="1000" dirty="0"/>
          </a:p>
        </p:txBody>
      </p:sp>
      <p:sp>
        <p:nvSpPr>
          <p:cNvPr id="25" name="Slide Number Placeholder 0"/>
          <p:cNvSpPr>
            <a:spLocks noGrp="1"/>
          </p:cNvSpPr>
          <p:nvPr>
            <p:ph type="sldNum" sz="quarter" idx="4294967295"/>
          </p:nvPr>
        </p:nvSpPr>
        <p:spPr>
          <a:xfrm>
            <a:off x="11247120" y="635508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0936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28016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ASTRA</a:t>
            </a:r>
            <a:endParaRPr lang="en-US" sz="5400" dirty="0"/>
          </a:p>
        </p:txBody>
      </p:sp>
      <p:sp>
        <p:nvSpPr>
          <p:cNvPr id="3" name="Text 0"/>
          <p:cNvSpPr/>
          <p:nvPr>
            <p:ph idx="101" type="body" hasCustomPrompt="1"/>
          </p:nvPr>
        </p:nvSpPr>
        <p:spPr>
          <a:xfrm>
            <a:off x="731520" y="3383280"/>
            <a:ext cx="10058400" cy="1463040"/>
          </a:xfrm>
          <a:prstGeom prst="rect">
            <a:avLst/>
          </a:prstGeom>
          <a:noFill/>
          <a:ln/>
        </p:spPr>
        <p:txBody>
          <a:bodyPr wrap="square" lIns="0" tIns="0" rIns="0" bIns="0" rtlCol="0" anchor="t"/>
          <a:lstStyle/>
          <a:p>
            <a:pPr indent="0" marL="0">
              <a:buNone/>
            </a:pPr>
            <a:r>
              <a:rPr lang="en-US" sz="2200" dirty="0">
                <a:solidFill>
                  <a:schemeClr val="accent6"/>
                </a:solidFill>
              </a:rPr>
              <a:t>Assurance for AI agents and AI models</a:t>
            </a:r>
            <a:endParaRPr lang="en-US" sz="2200" dirty="0"/>
          </a:p>
          <a:p>
            <a:pPr indent="0" marL="0">
              <a:buNone/>
            </a:pPr>
            <a:r>
              <a:rPr lang="en-US" sz="2200" dirty="0">
                <a:solidFill>
                  <a:schemeClr val="accent6"/>
                </a:solidFill>
              </a:rPr>
              <a:t>The modelling language, current progress and market position</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AI is spreading faster than the controls that govern it</a:t>
            </a:r>
            <a:endParaRPr lang="en-US" sz="3200" dirty="0"/>
          </a:p>
        </p:txBody>
      </p:sp>
      <p:sp>
        <p:nvSpPr>
          <p:cNvPr id="3" name="stat"/>
          <p:cNvSpPr/>
          <p:nvPr/>
        </p:nvSpPr>
        <p:spPr>
          <a:xfrm>
            <a:off x="548640" y="1417320"/>
            <a:ext cx="3474720" cy="2743200"/>
          </a:xfrm>
          <a:prstGeom prst="roundRect">
            <a:avLst>
              <a:gd name="adj" fmla="val 2667"/>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4" name="Text 2"/>
          <p:cNvSpPr txBox="1"/>
          <p:nvPr/>
        </p:nvSpPr>
        <p:spPr>
          <a:xfrm>
            <a:off x="822960" y="1691640"/>
            <a:ext cx="3017520" cy="822960"/>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$2.4bn</a:t>
            </a:r>
            <a:endParaRPr lang="en-US" sz="3400" dirty="0"/>
          </a:p>
        </p:txBody>
      </p:sp>
      <p:sp>
        <p:nvSpPr>
          <p:cNvPr id="5" name="Text 3"/>
          <p:cNvSpPr txBox="1"/>
          <p:nvPr/>
        </p:nvSpPr>
        <p:spPr>
          <a:xfrm>
            <a:off x="822960" y="2651760"/>
            <a:ext cx="3017520" cy="1280160"/>
          </a:xfrm>
          <a:prstGeom prst="rect">
            <a:avLst/>
          </a:prstGeom>
          <a:noFill/>
          <a:ln/>
        </p:spPr>
        <p:txBody>
          <a:bodyPr wrap="square" lIns="0" tIns="0" rIns="0" bIns="0" rtlCol="0" anchor="t"/>
          <a:lstStyle/>
          <a:p>
            <a:pPr indent="0" marL="0">
              <a:buNone/>
            </a:pPr>
            <a:r>
              <a:rPr lang="en-US" sz="1500" dirty="0">
                <a:solidFill>
                  <a:schemeClr val="tx1"/>
                </a:solidFill>
              </a:rPr>
              <a:t>AI governance platform market by 2031, up from $0.8bn in 2026 (about 24% a year)</a:t>
            </a:r>
            <a:endParaRPr lang="en-US" sz="1500" dirty="0"/>
          </a:p>
        </p:txBody>
      </p:sp>
      <p:sp>
        <p:nvSpPr>
          <p:cNvPr id="6" name="Text 4"/>
          <p:cNvSpPr txBox="1"/>
          <p:nvPr/>
        </p:nvSpPr>
        <p:spPr>
          <a:xfrm>
            <a:off x="822960" y="3703320"/>
            <a:ext cx="3017520" cy="274320"/>
          </a:xfrm>
          <a:prstGeom prst="rect">
            <a:avLst/>
          </a:prstGeom>
          <a:noFill/>
          <a:ln/>
        </p:spPr>
        <p:txBody>
          <a:bodyPr wrap="square" lIns="0" tIns="0" rIns="0" bIns="0" rtlCol="0" anchor="t"/>
          <a:lstStyle/>
          <a:p>
            <a:pPr indent="0" marL="0">
              <a:buNone/>
            </a:pPr>
            <a:r>
              <a:rPr lang="en-US" sz="1000" i="1" dirty="0">
                <a:solidFill>
                  <a:schemeClr val="accent5"/>
                </a:solidFill>
              </a:rPr>
              <a:t>Mordor Intelligence</a:t>
            </a:r>
            <a:endParaRPr lang="en-US" sz="1000" dirty="0"/>
          </a:p>
        </p:txBody>
      </p:sp>
      <p:sp>
        <p:nvSpPr>
          <p:cNvPr id="7" name="stat"/>
          <p:cNvSpPr/>
          <p:nvPr/>
        </p:nvSpPr>
        <p:spPr>
          <a:xfrm>
            <a:off x="4297680" y="1417320"/>
            <a:ext cx="3474720" cy="2743200"/>
          </a:xfrm>
          <a:prstGeom prst="roundRect">
            <a:avLst>
              <a:gd name="adj" fmla="val 2667"/>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8" name="Text 6"/>
          <p:cNvSpPr txBox="1"/>
          <p:nvPr/>
        </p:nvSpPr>
        <p:spPr>
          <a:xfrm>
            <a:off x="4572000" y="1691640"/>
            <a:ext cx="3017520" cy="822960"/>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Feb 2026</a:t>
            </a:r>
            <a:endParaRPr lang="en-US" sz="3400" dirty="0"/>
          </a:p>
        </p:txBody>
      </p:sp>
      <p:sp>
        <p:nvSpPr>
          <p:cNvPr id="9" name="Text 7"/>
          <p:cNvSpPr txBox="1"/>
          <p:nvPr/>
        </p:nvSpPr>
        <p:spPr>
          <a:xfrm>
            <a:off x="4572000" y="2651760"/>
            <a:ext cx="3017520" cy="1280160"/>
          </a:xfrm>
          <a:prstGeom prst="rect">
            <a:avLst/>
          </a:prstGeom>
          <a:noFill/>
          <a:ln/>
        </p:spPr>
        <p:txBody>
          <a:bodyPr wrap="square" lIns="0" tIns="0" rIns="0" bIns="0" rtlCol="0" anchor="t"/>
          <a:lstStyle/>
          <a:p>
            <a:pPr indent="0" marL="0">
              <a:buNone/>
            </a:pPr>
            <a:r>
              <a:rPr lang="en-US" sz="1500" dirty="0">
                <a:solidFill>
                  <a:schemeClr val="tx1"/>
                </a:solidFill>
              </a:rPr>
              <a:t>Gartner publishes its first Market Guide for Guardian Agents, which supervise AI agents at runtime</a:t>
            </a:r>
            <a:endParaRPr lang="en-US" sz="1500" dirty="0"/>
          </a:p>
        </p:txBody>
      </p:sp>
      <p:sp>
        <p:nvSpPr>
          <p:cNvPr id="10" name="Text 8"/>
          <p:cNvSpPr txBox="1"/>
          <p:nvPr/>
        </p:nvSpPr>
        <p:spPr>
          <a:xfrm>
            <a:off x="4572000" y="3703320"/>
            <a:ext cx="3017520" cy="274320"/>
          </a:xfrm>
          <a:prstGeom prst="rect">
            <a:avLst/>
          </a:prstGeom>
          <a:noFill/>
          <a:ln/>
        </p:spPr>
        <p:txBody>
          <a:bodyPr wrap="square" lIns="0" tIns="0" rIns="0" bIns="0" rtlCol="0" anchor="t"/>
          <a:lstStyle/>
          <a:p>
            <a:pPr indent="0" marL="0">
              <a:buNone/>
            </a:pPr>
            <a:r>
              <a:rPr lang="en-US" sz="1000" i="1" dirty="0">
                <a:solidFill>
                  <a:schemeClr val="accent5"/>
                </a:solidFill>
              </a:rPr>
              <a:t>Gartner, via trade press</a:t>
            </a:r>
            <a:endParaRPr lang="en-US" sz="1000" dirty="0"/>
          </a:p>
        </p:txBody>
      </p:sp>
      <p:sp>
        <p:nvSpPr>
          <p:cNvPr id="11" name="stat"/>
          <p:cNvSpPr/>
          <p:nvPr/>
        </p:nvSpPr>
        <p:spPr>
          <a:xfrm>
            <a:off x="8046720" y="1417320"/>
            <a:ext cx="3474720" cy="2743200"/>
          </a:xfrm>
          <a:prstGeom prst="roundRect">
            <a:avLst>
              <a:gd name="adj" fmla="val 2667"/>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12" name="Text 10"/>
          <p:cNvSpPr txBox="1"/>
          <p:nvPr/>
        </p:nvSpPr>
        <p:spPr>
          <a:xfrm>
            <a:off x="8321040" y="1691640"/>
            <a:ext cx="3017520" cy="822960"/>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2 Dec 2027</a:t>
            </a:r>
            <a:endParaRPr lang="en-US" sz="3400" dirty="0"/>
          </a:p>
        </p:txBody>
      </p:sp>
      <p:sp>
        <p:nvSpPr>
          <p:cNvPr id="13" name="Text 11"/>
          <p:cNvSpPr txBox="1"/>
          <p:nvPr/>
        </p:nvSpPr>
        <p:spPr>
          <a:xfrm>
            <a:off x="8321040" y="2651760"/>
            <a:ext cx="3017520" cy="1280160"/>
          </a:xfrm>
          <a:prstGeom prst="rect">
            <a:avLst/>
          </a:prstGeom>
          <a:noFill/>
          <a:ln/>
        </p:spPr>
        <p:txBody>
          <a:bodyPr wrap="square" lIns="0" tIns="0" rIns="0" bIns="0" rtlCol="0" anchor="t"/>
          <a:lstStyle/>
          <a:p>
            <a:pPr indent="0" marL="0">
              <a:buNone/>
            </a:pPr>
            <a:r>
              <a:rPr lang="en-US" sz="1500" dirty="0">
                <a:solidFill>
                  <a:schemeClr val="tx1"/>
                </a:solidFill>
              </a:rPr>
              <a:t>EU AI Act high-risk (Annex III) obligations apply, after the Digital Omnibus postponement</a:t>
            </a:r>
            <a:endParaRPr lang="en-US" sz="1500" dirty="0"/>
          </a:p>
        </p:txBody>
      </p:sp>
      <p:sp>
        <p:nvSpPr>
          <p:cNvPr id="14" name="Text 12"/>
          <p:cNvSpPr txBox="1"/>
          <p:nvPr/>
        </p:nvSpPr>
        <p:spPr>
          <a:xfrm>
            <a:off x="8321040" y="3703320"/>
            <a:ext cx="3017520" cy="274320"/>
          </a:xfrm>
          <a:prstGeom prst="rect">
            <a:avLst/>
          </a:prstGeom>
          <a:noFill/>
          <a:ln/>
        </p:spPr>
        <p:txBody>
          <a:bodyPr wrap="square" lIns="0" tIns="0" rIns="0" bIns="0" rtlCol="0" anchor="t"/>
          <a:lstStyle/>
          <a:p>
            <a:pPr indent="0" marL="0">
              <a:buNone/>
            </a:pPr>
            <a:r>
              <a:rPr lang="en-US" sz="1000" i="1" dirty="0">
                <a:solidFill>
                  <a:schemeClr val="accent5"/>
                </a:solidFill>
              </a:rPr>
              <a:t>Sidley; Gibson Dunn</a:t>
            </a:r>
            <a:endParaRPr lang="en-US" sz="1000" dirty="0"/>
          </a:p>
        </p:txBody>
      </p:sp>
      <p:sp>
        <p:nvSpPr>
          <p:cNvPr id="15" name="Text 13"/>
          <p:cNvSpPr txBox="1"/>
          <p:nvPr/>
        </p:nvSpPr>
        <p:spPr>
          <a:xfrm>
            <a:off x="548640" y="4572000"/>
            <a:ext cx="11064240" cy="914400"/>
          </a:xfrm>
          <a:prstGeom prst="rect">
            <a:avLst/>
          </a:prstGeom>
          <a:noFill/>
          <a:ln/>
        </p:spPr>
        <p:txBody>
          <a:bodyPr wrap="square" lIns="0" tIns="0" rIns="0" bIns="0" rtlCol="0" anchor="t"/>
          <a:lstStyle/>
          <a:p>
            <a:pPr indent="0" marL="0">
              <a:buNone/>
            </a:pPr>
            <a:r>
              <a:rPr lang="en-US" sz="2000" b="1" dirty="0">
                <a:solidFill>
                  <a:schemeClr val="tx2"/>
                </a:solidFill>
              </a:rPr>
              <a:t>The gap: organisations can document an AI system at approval, and they can watch it in production, but few can prove that what runs today is still what was approved.</a:t>
            </a:r>
            <a:endParaRPr lang="en-US" sz="2000" dirty="0"/>
          </a:p>
        </p:txBody>
      </p:sp>
      <p:sp>
        <p:nvSpPr>
          <p:cNvPr id="25" name="Slide Number Placeholder 0"/>
          <p:cNvSpPr>
            <a:spLocks noGrp="1"/>
          </p:cNvSpPr>
          <p:nvPr>
            <p:ph type="sldNum" sz="quarter" idx="4294967295"/>
          </p:nvPr>
        </p:nvSpPr>
        <p:spPr>
          <a:xfrm>
            <a:off x="11247120" y="635508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ASTRA links the approved design to the running system</a:t>
            </a:r>
            <a:endParaRPr lang="en-US" sz="3200" dirty="0"/>
          </a:p>
        </p:txBody>
      </p:sp>
      <p:sp>
        <p:nvSpPr>
          <p:cNvPr id="3" name="step"/>
          <p:cNvSpPr/>
          <p:nvPr/>
        </p:nvSpPr>
        <p:spPr>
          <a:xfrm>
            <a:off x="548640" y="1600200"/>
            <a:ext cx="1691640" cy="3291840"/>
          </a:xfrm>
          <a:prstGeom prst="roundRect">
            <a:avLst>
              <a:gd name="adj" fmla="val 4324"/>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4" name="badge"/>
          <p:cNvSpPr/>
          <p:nvPr/>
        </p:nvSpPr>
        <p:spPr>
          <a:xfrm>
            <a:off x="1143000" y="182880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1143000" y="18288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685800" y="2468880"/>
            <a:ext cx="1417320" cy="548640"/>
          </a:xfrm>
          <a:prstGeom prst="rect">
            <a:avLst/>
          </a:prstGeom>
          <a:noFill/>
          <a:ln/>
        </p:spPr>
        <p:txBody>
          <a:bodyPr wrap="square" lIns="0" tIns="0" rIns="0" bIns="0" rtlCol="0" anchor="ctr"/>
          <a:lstStyle/>
          <a:p>
            <a:pPr algn="ctr" indent="0" marL="0">
              <a:buNone/>
            </a:pPr>
            <a:r>
              <a:rPr lang="en-US" sz="1700" b="1" dirty="0">
                <a:solidFill>
                  <a:schemeClr val="tx2"/>
                </a:solidFill>
              </a:rPr>
              <a:t>Model</a:t>
            </a:r>
            <a:endParaRPr lang="en-US" sz="1700" dirty="0"/>
          </a:p>
        </p:txBody>
      </p:sp>
      <p:sp>
        <p:nvSpPr>
          <p:cNvPr id="7" name="Text 5"/>
          <p:cNvSpPr txBox="1"/>
          <p:nvPr/>
        </p:nvSpPr>
        <p:spPr>
          <a:xfrm>
            <a:off x="685800" y="3063240"/>
            <a:ext cx="1417320" cy="1737360"/>
          </a:xfrm>
          <a:prstGeom prst="rect">
            <a:avLst/>
          </a:prstGeom>
          <a:noFill/>
          <a:ln/>
        </p:spPr>
        <p:txBody>
          <a:bodyPr wrap="square" lIns="0" tIns="0" rIns="0" bIns="0" rtlCol="0" anchor="t"/>
          <a:lstStyle/>
          <a:p>
            <a:pPr algn="l" indent="0" marL="0">
              <a:buNone/>
            </a:pPr>
            <a:r>
              <a:rPr lang="en-US" sz="1300" dirty="0">
                <a:solidFill>
                  <a:schemeClr val="tx1"/>
                </a:solidFill>
              </a:rPr>
              <a:t>Draw the agent or model in a formal language, in the context of the organisation</a:t>
            </a:r>
            <a:endParaRPr lang="en-US" sz="1300" dirty="0"/>
          </a:p>
        </p:txBody>
      </p:sp>
      <p:sp>
        <p:nvSpPr>
          <p:cNvPr id="8" name="step"/>
          <p:cNvSpPr/>
          <p:nvPr/>
        </p:nvSpPr>
        <p:spPr>
          <a:xfrm>
            <a:off x="2423160" y="1600200"/>
            <a:ext cx="1691640" cy="3291840"/>
          </a:xfrm>
          <a:prstGeom prst="roundRect">
            <a:avLst>
              <a:gd name="adj" fmla="val 4324"/>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9" name="badge"/>
          <p:cNvSpPr/>
          <p:nvPr/>
        </p:nvSpPr>
        <p:spPr>
          <a:xfrm>
            <a:off x="3017520" y="1828800"/>
            <a:ext cx="502920" cy="502920"/>
          </a:xfrm>
          <a:prstGeom prst="ellipse">
            <a:avLst/>
          </a:prstGeom>
          <a:solidFill>
            <a:schemeClr val="accent1"/>
          </a:solidFill>
          <a:ln w="12700">
            <a:solidFill>
              <a:schemeClr val="accent1"/>
            </a:solidFill>
            <a:prstDash val="solid"/>
          </a:ln>
        </p:spPr>
      </p:sp>
      <p:sp>
        <p:nvSpPr>
          <p:cNvPr id="10" name="Text 8"/>
          <p:cNvSpPr txBox="1"/>
          <p:nvPr/>
        </p:nvSpPr>
        <p:spPr>
          <a:xfrm>
            <a:off x="3017520" y="18288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2560320" y="2468880"/>
            <a:ext cx="1417320" cy="548640"/>
          </a:xfrm>
          <a:prstGeom prst="rect">
            <a:avLst/>
          </a:prstGeom>
          <a:noFill/>
          <a:ln/>
        </p:spPr>
        <p:txBody>
          <a:bodyPr wrap="square" lIns="0" tIns="0" rIns="0" bIns="0" rtlCol="0" anchor="ctr"/>
          <a:lstStyle/>
          <a:p>
            <a:pPr algn="ctr" indent="0" marL="0">
              <a:buNone/>
            </a:pPr>
            <a:r>
              <a:rPr lang="en-US" sz="1700" b="1" dirty="0">
                <a:solidFill>
                  <a:schemeClr val="tx2"/>
                </a:solidFill>
              </a:rPr>
              <a:t>Assess</a:t>
            </a:r>
            <a:endParaRPr lang="en-US" sz="1700" dirty="0"/>
          </a:p>
        </p:txBody>
      </p:sp>
      <p:sp>
        <p:nvSpPr>
          <p:cNvPr id="12" name="Text 10"/>
          <p:cNvSpPr txBox="1"/>
          <p:nvPr/>
        </p:nvSpPr>
        <p:spPr>
          <a:xfrm>
            <a:off x="2560320" y="3063240"/>
            <a:ext cx="1417320" cy="1737360"/>
          </a:xfrm>
          <a:prstGeom prst="rect">
            <a:avLst/>
          </a:prstGeom>
          <a:noFill/>
          <a:ln/>
        </p:spPr>
        <p:txBody>
          <a:bodyPr wrap="square" lIns="0" tIns="0" rIns="0" bIns="0" rtlCol="0" anchor="t"/>
          <a:lstStyle/>
          <a:p>
            <a:pPr algn="l" indent="0" marL="0">
              <a:buNone/>
            </a:pPr>
            <a:r>
              <a:rPr lang="en-US" sz="1300" dirty="0">
                <a:solidFill>
                  <a:schemeClr val="tx1"/>
                </a:solidFill>
              </a:rPr>
              <a:t>Check structure, Secure Tropos constraints, regulations and policies; score the risk</a:t>
            </a:r>
            <a:endParaRPr lang="en-US" sz="1300" dirty="0"/>
          </a:p>
        </p:txBody>
      </p:sp>
      <p:sp>
        <p:nvSpPr>
          <p:cNvPr id="13" name="step"/>
          <p:cNvSpPr/>
          <p:nvPr/>
        </p:nvSpPr>
        <p:spPr>
          <a:xfrm>
            <a:off x="4297680" y="1600200"/>
            <a:ext cx="1691640" cy="3291840"/>
          </a:xfrm>
          <a:prstGeom prst="roundRect">
            <a:avLst>
              <a:gd name="adj" fmla="val 4324"/>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14" name="badge"/>
          <p:cNvSpPr/>
          <p:nvPr/>
        </p:nvSpPr>
        <p:spPr>
          <a:xfrm>
            <a:off x="4892040" y="1828800"/>
            <a:ext cx="502920" cy="502920"/>
          </a:xfrm>
          <a:prstGeom prst="ellipse">
            <a:avLst/>
          </a:prstGeom>
          <a:solidFill>
            <a:schemeClr val="accent1"/>
          </a:solidFill>
          <a:ln w="12700">
            <a:solidFill>
              <a:schemeClr val="accent1"/>
            </a:solidFill>
            <a:prstDash val="solid"/>
          </a:ln>
        </p:spPr>
      </p:sp>
      <p:sp>
        <p:nvSpPr>
          <p:cNvPr id="15" name="Text 13"/>
          <p:cNvSpPr txBox="1"/>
          <p:nvPr/>
        </p:nvSpPr>
        <p:spPr>
          <a:xfrm>
            <a:off x="4892040" y="18288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4434840" y="2468880"/>
            <a:ext cx="1417320" cy="548640"/>
          </a:xfrm>
          <a:prstGeom prst="rect">
            <a:avLst/>
          </a:prstGeom>
          <a:noFill/>
          <a:ln/>
        </p:spPr>
        <p:txBody>
          <a:bodyPr wrap="square" lIns="0" tIns="0" rIns="0" bIns="0" rtlCol="0" anchor="ctr"/>
          <a:lstStyle/>
          <a:p>
            <a:pPr algn="ctr" indent="0" marL="0">
              <a:buNone/>
            </a:pPr>
            <a:r>
              <a:rPr lang="en-US" sz="1700" b="1" dirty="0">
                <a:solidFill>
                  <a:schemeClr val="tx2"/>
                </a:solidFill>
              </a:rPr>
              <a:t>Sign off</a:t>
            </a:r>
            <a:endParaRPr lang="en-US" sz="1700" dirty="0"/>
          </a:p>
        </p:txBody>
      </p:sp>
      <p:sp>
        <p:nvSpPr>
          <p:cNvPr id="17" name="Text 15"/>
          <p:cNvSpPr txBox="1"/>
          <p:nvPr/>
        </p:nvSpPr>
        <p:spPr>
          <a:xfrm>
            <a:off x="4434840" y="3063240"/>
            <a:ext cx="1417320" cy="1737360"/>
          </a:xfrm>
          <a:prstGeom prst="rect">
            <a:avLst/>
          </a:prstGeom>
          <a:noFill/>
          <a:ln/>
        </p:spPr>
        <p:txBody>
          <a:bodyPr wrap="square" lIns="0" tIns="0" rIns="0" bIns="0" rtlCol="0" anchor="t"/>
          <a:lstStyle/>
          <a:p>
            <a:pPr algn="l" indent="0" marL="0">
              <a:buNone/>
            </a:pPr>
            <a:r>
              <a:rPr lang="en-US" sz="1300" dirty="0">
                <a:solidFill>
                  <a:schemeClr val="tx1"/>
                </a:solidFill>
              </a:rPr>
              <a:t>A named reviewer approves; ASTRA issues a hashed, versioned contract</a:t>
            </a:r>
            <a:endParaRPr lang="en-US" sz="1300" dirty="0"/>
          </a:p>
        </p:txBody>
      </p:sp>
      <p:sp>
        <p:nvSpPr>
          <p:cNvPr id="18" name="step"/>
          <p:cNvSpPr/>
          <p:nvPr/>
        </p:nvSpPr>
        <p:spPr>
          <a:xfrm>
            <a:off x="6172200" y="1600200"/>
            <a:ext cx="1691640" cy="3291840"/>
          </a:xfrm>
          <a:prstGeom prst="roundRect">
            <a:avLst>
              <a:gd name="adj" fmla="val 4324"/>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19" name="badge"/>
          <p:cNvSpPr/>
          <p:nvPr/>
        </p:nvSpPr>
        <p:spPr>
          <a:xfrm>
            <a:off x="6766560" y="1828800"/>
            <a:ext cx="502920" cy="502920"/>
          </a:xfrm>
          <a:prstGeom prst="ellipse">
            <a:avLst/>
          </a:prstGeom>
          <a:solidFill>
            <a:schemeClr val="accent3"/>
          </a:solidFill>
          <a:ln w="12700">
            <a:solidFill>
              <a:schemeClr val="accent3"/>
            </a:solidFill>
            <a:prstDash val="solid"/>
          </a:ln>
        </p:spPr>
      </p:sp>
      <p:sp>
        <p:nvSpPr>
          <p:cNvPr id="20" name="Text 18"/>
          <p:cNvSpPr txBox="1"/>
          <p:nvPr/>
        </p:nvSpPr>
        <p:spPr>
          <a:xfrm>
            <a:off x="6766560" y="18288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 19"/>
          <p:cNvSpPr txBox="1"/>
          <p:nvPr/>
        </p:nvSpPr>
        <p:spPr>
          <a:xfrm>
            <a:off x="6309360" y="2468880"/>
            <a:ext cx="1417320" cy="548640"/>
          </a:xfrm>
          <a:prstGeom prst="rect">
            <a:avLst/>
          </a:prstGeom>
          <a:noFill/>
          <a:ln/>
        </p:spPr>
        <p:txBody>
          <a:bodyPr wrap="square" lIns="0" tIns="0" rIns="0" bIns="0" rtlCol="0" anchor="ctr"/>
          <a:lstStyle/>
          <a:p>
            <a:pPr algn="ctr" indent="0" marL="0">
              <a:buNone/>
            </a:pPr>
            <a:r>
              <a:rPr lang="en-US" sz="1700" b="1" dirty="0">
                <a:solidFill>
                  <a:schemeClr val="tx2"/>
                </a:solidFill>
              </a:rPr>
              <a:t>Deploy and link</a:t>
            </a:r>
            <a:endParaRPr lang="en-US" sz="1700" dirty="0"/>
          </a:p>
        </p:txBody>
      </p:sp>
      <p:sp>
        <p:nvSpPr>
          <p:cNvPr id="22" name="Text 20"/>
          <p:cNvSpPr txBox="1"/>
          <p:nvPr/>
        </p:nvSpPr>
        <p:spPr>
          <a:xfrm>
            <a:off x="6309360" y="3063240"/>
            <a:ext cx="1417320" cy="1737360"/>
          </a:xfrm>
          <a:prstGeom prst="rect">
            <a:avLst/>
          </a:prstGeom>
          <a:noFill/>
          <a:ln/>
        </p:spPr>
        <p:txBody>
          <a:bodyPr wrap="square" lIns="0" tIns="0" rIns="0" bIns="0" rtlCol="0" anchor="t"/>
          <a:lstStyle/>
          <a:p>
            <a:pPr algn="l" indent="0" marL="0">
              <a:buNone/>
            </a:pPr>
            <a:r>
              <a:rPr lang="en-US" sz="1300" dirty="0">
                <a:solidFill>
                  <a:schemeClr val="tx1"/>
                </a:solidFill>
              </a:rPr>
              <a:t>The organisation connects the system with the ASTRA SDK or OpenTelemetry</a:t>
            </a:r>
            <a:endParaRPr lang="en-US" sz="1300" dirty="0"/>
          </a:p>
        </p:txBody>
      </p:sp>
      <p:sp>
        <p:nvSpPr>
          <p:cNvPr id="23" name="step"/>
          <p:cNvSpPr/>
          <p:nvPr/>
        </p:nvSpPr>
        <p:spPr>
          <a:xfrm>
            <a:off x="8046720" y="1600200"/>
            <a:ext cx="1691640" cy="3291840"/>
          </a:xfrm>
          <a:prstGeom prst="roundRect">
            <a:avLst>
              <a:gd name="adj" fmla="val 4324"/>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24" name="badge"/>
          <p:cNvSpPr/>
          <p:nvPr/>
        </p:nvSpPr>
        <p:spPr>
          <a:xfrm>
            <a:off x="8641080" y="1828800"/>
            <a:ext cx="502920" cy="502920"/>
          </a:xfrm>
          <a:prstGeom prst="ellipse">
            <a:avLst/>
          </a:prstGeom>
          <a:solidFill>
            <a:schemeClr val="accent3"/>
          </a:solidFill>
          <a:ln w="12700">
            <a:solidFill>
              <a:schemeClr val="accent3"/>
            </a:solidFill>
            <a:prstDash val="solid"/>
          </a:ln>
        </p:spPr>
      </p:sp>
      <p:sp>
        <p:nvSpPr>
          <p:cNvPr id="25" name="Text 23"/>
          <p:cNvSpPr txBox="1"/>
          <p:nvPr/>
        </p:nvSpPr>
        <p:spPr>
          <a:xfrm>
            <a:off x="8641080" y="18288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6" name="Text 24"/>
          <p:cNvSpPr txBox="1"/>
          <p:nvPr/>
        </p:nvSpPr>
        <p:spPr>
          <a:xfrm>
            <a:off x="8183880" y="2468880"/>
            <a:ext cx="1417320" cy="548640"/>
          </a:xfrm>
          <a:prstGeom prst="rect">
            <a:avLst/>
          </a:prstGeom>
          <a:noFill/>
          <a:ln/>
        </p:spPr>
        <p:txBody>
          <a:bodyPr wrap="square" lIns="0" tIns="0" rIns="0" bIns="0" rtlCol="0" anchor="ctr"/>
          <a:lstStyle/>
          <a:p>
            <a:pPr algn="ctr" indent="0" marL="0">
              <a:buNone/>
            </a:pPr>
            <a:r>
              <a:rPr lang="en-US" sz="1700" b="1" dirty="0">
                <a:solidFill>
                  <a:schemeClr val="tx2"/>
                </a:solidFill>
              </a:rPr>
              <a:t>Monitor</a:t>
            </a:r>
            <a:endParaRPr lang="en-US" sz="1700" dirty="0"/>
          </a:p>
        </p:txBody>
      </p:sp>
      <p:sp>
        <p:nvSpPr>
          <p:cNvPr id="27" name="Text 25"/>
          <p:cNvSpPr txBox="1"/>
          <p:nvPr/>
        </p:nvSpPr>
        <p:spPr>
          <a:xfrm>
            <a:off x="8183880" y="3063240"/>
            <a:ext cx="1417320" cy="1737360"/>
          </a:xfrm>
          <a:prstGeom prst="rect">
            <a:avLst/>
          </a:prstGeom>
          <a:noFill/>
          <a:ln/>
        </p:spPr>
        <p:txBody>
          <a:bodyPr wrap="square" lIns="0" tIns="0" rIns="0" bIns="0" rtlCol="0" anchor="t"/>
          <a:lstStyle/>
          <a:p>
            <a:pPr algn="l" indent="0" marL="0">
              <a:buNone/>
            </a:pPr>
            <a:r>
              <a:rPr lang="en-US" sz="1300" dirty="0">
                <a:solidFill>
                  <a:schemeClr val="tx1"/>
                </a:solidFill>
              </a:rPr>
              <a:t>Every action is compared with the contract; models are watched for drift and bias</a:t>
            </a:r>
            <a:endParaRPr lang="en-US" sz="1300" dirty="0"/>
          </a:p>
        </p:txBody>
      </p:sp>
      <p:sp>
        <p:nvSpPr>
          <p:cNvPr id="28" name="step"/>
          <p:cNvSpPr/>
          <p:nvPr/>
        </p:nvSpPr>
        <p:spPr>
          <a:xfrm>
            <a:off x="9921240" y="1600200"/>
            <a:ext cx="1691640" cy="3291840"/>
          </a:xfrm>
          <a:prstGeom prst="roundRect">
            <a:avLst>
              <a:gd name="adj" fmla="val 4324"/>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29" name="badge"/>
          <p:cNvSpPr/>
          <p:nvPr/>
        </p:nvSpPr>
        <p:spPr>
          <a:xfrm>
            <a:off x="10515600" y="1828800"/>
            <a:ext cx="502920" cy="502920"/>
          </a:xfrm>
          <a:prstGeom prst="ellipse">
            <a:avLst/>
          </a:prstGeom>
          <a:solidFill>
            <a:schemeClr val="accent3"/>
          </a:solidFill>
          <a:ln w="12700">
            <a:solidFill>
              <a:schemeClr val="accent3"/>
            </a:solidFill>
            <a:prstDash val="solid"/>
          </a:ln>
        </p:spPr>
      </p:sp>
      <p:sp>
        <p:nvSpPr>
          <p:cNvPr id="30" name="Text 28"/>
          <p:cNvSpPr txBox="1"/>
          <p:nvPr/>
        </p:nvSpPr>
        <p:spPr>
          <a:xfrm>
            <a:off x="10515600" y="18288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1" name="Text 29"/>
          <p:cNvSpPr txBox="1"/>
          <p:nvPr/>
        </p:nvSpPr>
        <p:spPr>
          <a:xfrm>
            <a:off x="10058400" y="2468880"/>
            <a:ext cx="1417320" cy="548640"/>
          </a:xfrm>
          <a:prstGeom prst="rect">
            <a:avLst/>
          </a:prstGeom>
          <a:noFill/>
          <a:ln/>
        </p:spPr>
        <p:txBody>
          <a:bodyPr wrap="square" lIns="0" tIns="0" rIns="0" bIns="0" rtlCol="0" anchor="ctr"/>
          <a:lstStyle/>
          <a:p>
            <a:pPr algn="ctr" indent="0" marL="0">
              <a:buNone/>
            </a:pPr>
            <a:r>
              <a:rPr lang="en-US" sz="1700" b="1" dirty="0">
                <a:solidFill>
                  <a:schemeClr val="tx2"/>
                </a:solidFill>
              </a:rPr>
              <a:t>Review</a:t>
            </a:r>
            <a:endParaRPr lang="en-US" sz="1700" dirty="0"/>
          </a:p>
        </p:txBody>
      </p:sp>
      <p:sp>
        <p:nvSpPr>
          <p:cNvPr id="32" name="Text 30"/>
          <p:cNvSpPr txBox="1"/>
          <p:nvPr/>
        </p:nvSpPr>
        <p:spPr>
          <a:xfrm>
            <a:off x="10058400" y="3063240"/>
            <a:ext cx="1417320" cy="1737360"/>
          </a:xfrm>
          <a:prstGeom prst="rect">
            <a:avLst/>
          </a:prstGeom>
          <a:noFill/>
          <a:ln/>
        </p:spPr>
        <p:txBody>
          <a:bodyPr wrap="square" lIns="0" tIns="0" rIns="0" bIns="0" rtlCol="0" anchor="t"/>
          <a:lstStyle/>
          <a:p>
            <a:pPr algn="l" indent="0" marL="0">
              <a:buNone/>
            </a:pPr>
            <a:r>
              <a:rPr lang="en-US" sz="1300" dirty="0">
                <a:solidFill>
                  <a:schemeClr val="tx1"/>
                </a:solidFill>
              </a:rPr>
              <a:t>Divergence becomes a finding or drift item; approval issues a new contract version</a:t>
            </a:r>
            <a:endParaRPr lang="en-US" sz="1300" dirty="0"/>
          </a:p>
        </p:txBody>
      </p:sp>
      <p:sp>
        <p:nvSpPr>
          <p:cNvPr id="33" name="Text 31"/>
          <p:cNvSpPr txBox="1"/>
          <p:nvPr/>
        </p:nvSpPr>
        <p:spPr>
          <a:xfrm>
            <a:off x="548640" y="5074920"/>
            <a:ext cx="5486400" cy="365760"/>
          </a:xfrm>
          <a:prstGeom prst="rect">
            <a:avLst/>
          </a:prstGeom>
          <a:noFill/>
          <a:ln/>
        </p:spPr>
        <p:txBody>
          <a:bodyPr wrap="square" lIns="0" tIns="0" rIns="0" bIns="0" rtlCol="0" anchor="t"/>
          <a:lstStyle/>
          <a:p>
            <a:pPr algn="ctr" indent="0" marL="0">
              <a:buNone/>
            </a:pPr>
            <a:r>
              <a:rPr lang="en-US" sz="1600" b="1" dirty="0">
                <a:solidFill>
                  <a:schemeClr val="accent1"/>
                </a:solidFill>
              </a:rPr>
              <a:t>Design time</a:t>
            </a:r>
            <a:endParaRPr lang="en-US" sz="1600" dirty="0"/>
          </a:p>
        </p:txBody>
      </p:sp>
      <p:sp>
        <p:nvSpPr>
          <p:cNvPr id="34" name="Text 32"/>
          <p:cNvSpPr txBox="1"/>
          <p:nvPr/>
        </p:nvSpPr>
        <p:spPr>
          <a:xfrm>
            <a:off x="6172200" y="5074920"/>
            <a:ext cx="5486400" cy="365760"/>
          </a:xfrm>
          <a:prstGeom prst="rect">
            <a:avLst/>
          </a:prstGeom>
          <a:noFill/>
          <a:ln/>
        </p:spPr>
        <p:txBody>
          <a:bodyPr wrap="square" lIns="0" tIns="0" rIns="0" bIns="0" rtlCol="0" anchor="t"/>
          <a:lstStyle/>
          <a:p>
            <a:pPr algn="ctr" indent="0" marL="0">
              <a:buNone/>
            </a:pPr>
            <a:r>
              <a:rPr lang="en-US" sz="1600" b="1" dirty="0">
                <a:solidFill>
                  <a:schemeClr val="accent3"/>
                </a:solidFill>
              </a:rPr>
              <a:t>Runtime</a:t>
            </a:r>
            <a:endParaRPr lang="en-US" sz="1600" dirty="0"/>
          </a:p>
        </p:txBody>
      </p:sp>
      <p:sp>
        <p:nvSpPr>
          <p:cNvPr id="35" name="relation"/>
          <p:cNvSpPr/>
          <p:nvPr/>
        </p:nvSpPr>
        <p:spPr>
          <a:xfrm>
            <a:off x="731520" y="5532120"/>
            <a:ext cx="5120640" cy="914"/>
          </a:xfrm>
          <a:prstGeom prst="line">
            <a:avLst/>
          </a:prstGeom>
          <a:noFill/>
          <a:ln w="25400">
            <a:solidFill>
              <a:schemeClr val="accent1"/>
            </a:solidFill>
            <a:prstDash val="solid"/>
          </a:ln>
        </p:spPr>
      </p:sp>
      <p:sp>
        <p:nvSpPr>
          <p:cNvPr id="36" name="relation"/>
          <p:cNvSpPr/>
          <p:nvPr/>
        </p:nvSpPr>
        <p:spPr>
          <a:xfrm>
            <a:off x="6355080" y="5532120"/>
            <a:ext cx="5120640" cy="914"/>
          </a:xfrm>
          <a:prstGeom prst="line">
            <a:avLst/>
          </a:prstGeom>
          <a:noFill/>
          <a:ln w="25400">
            <a:solidFill>
              <a:schemeClr val="accent3"/>
            </a:solidFill>
            <a:prstDash val="solid"/>
          </a:ln>
        </p:spPr>
      </p:sp>
      <p:sp>
        <p:nvSpPr>
          <p:cNvPr id="37" name="Text 35"/>
          <p:cNvSpPr txBox="1"/>
          <p:nvPr/>
        </p:nvSpPr>
        <p:spPr>
          <a:xfrm>
            <a:off x="548640" y="5669280"/>
            <a:ext cx="11064240" cy="411480"/>
          </a:xfrm>
          <a:prstGeom prst="rect">
            <a:avLst/>
          </a:prstGeom>
          <a:noFill/>
          <a:ln/>
        </p:spPr>
        <p:txBody>
          <a:bodyPr wrap="square" lIns="0" tIns="0" rIns="0" bIns="0" rtlCol="0" anchor="t"/>
          <a:lstStyle/>
          <a:p>
            <a:pPr algn="ctr" indent="0" marL="0">
              <a:buNone/>
            </a:pPr>
            <a:r>
              <a:rPr lang="en-US" sz="1500" i="1" dirty="0">
                <a:solidFill>
                  <a:schemeClr val="tx2"/>
                </a:solidFill>
              </a:rPr>
              <a:t>The signed contract is the hinge: it is the output of design time and the baseline for runtime.</a:t>
            </a:r>
            <a:endParaRPr lang="en-US" sz="1500" dirty="0"/>
          </a:p>
        </p:txBody>
      </p:sp>
      <p:sp>
        <p:nvSpPr>
          <p:cNvPr id="25" name="Slide Number Placeholder 0"/>
          <p:cNvSpPr>
            <a:spLocks noGrp="1"/>
          </p:cNvSpPr>
          <p:nvPr>
            <p:ph type="sldNum" sz="quarter" idx="4294967295"/>
          </p:nvPr>
        </p:nvSpPr>
        <p:spPr>
          <a:xfrm>
            <a:off x="11247120" y="635508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9728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The formal language</a:t>
            </a:r>
            <a:endParaRPr lang="en-US" sz="4400" dirty="0"/>
          </a:p>
        </p:txBody>
      </p:sp>
      <p:sp>
        <p:nvSpPr>
          <p:cNvPr id="3" name="Text 0"/>
          <p:cNvSpPr/>
          <p:nvPr>
            <p:ph idx="101" type="body" hasCustomPrompt="1"/>
          </p:nvPr>
        </p:nvSpPr>
        <p:spPr>
          <a:xfrm>
            <a:off x="731520" y="3611880"/>
            <a:ext cx="10058400" cy="1097280"/>
          </a:xfrm>
          <a:prstGeom prst="rect">
            <a:avLst/>
          </a:prstGeom>
          <a:noFill/>
          <a:ln/>
        </p:spPr>
        <p:txBody>
          <a:bodyPr wrap="square" lIns="0" tIns="0" rIns="0" bIns="0" rtlCol="0" anchor="t"/>
          <a:lstStyle/>
          <a:p>
            <a:pPr indent="0" marL="0">
              <a:buNone/>
            </a:pPr>
            <a:r>
              <a:rPr lang="en-US" sz="2000" dirty="0">
                <a:solidFill>
                  <a:schemeClr val="accent6"/>
                </a:solidFill>
              </a:rPr>
              <a:t>How a design is expressed, and how ASTRA decides whether it is a correct representation</a:t>
            </a:r>
            <a:endParaRPr lang="en-US" sz="2000" dirty="0"/>
          </a:p>
        </p:txBody>
      </p:sp>
      <p:sp>
        <p:nvSpPr>
          <p:cNvPr id="25" name="Slide Number Placeholder 0"/>
          <p:cNvSpPr>
            <a:spLocks noGrp="1"/>
          </p:cNvSpPr>
          <p:nvPr>
            <p:ph type="sldNum" sz="quarter" idx="4294967295"/>
          </p:nvPr>
        </p:nvSpPr>
        <p:spPr>
          <a:xfrm>
            <a:off x="11247120" y="630936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 fixed vocabulary of elements, grounded in Secure Tropos</a:t>
            </a:r>
            <a:endParaRPr lang="en-US" sz="3200" dirty="0"/>
          </a:p>
        </p:txBody>
      </p:sp>
      <p:sp>
        <p:nvSpPr>
          <p:cNvPr id="3" name="group"/>
          <p:cNvSpPr/>
          <p:nvPr/>
        </p:nvSpPr>
        <p:spPr>
          <a:xfrm>
            <a:off x="548640" y="1371600"/>
            <a:ext cx="2606040" cy="2743200"/>
          </a:xfrm>
          <a:prstGeom prst="roundRect">
            <a:avLst>
              <a:gd name="adj" fmla="val 2807"/>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4" name="Text 2"/>
          <p:cNvSpPr txBox="1"/>
          <p:nvPr/>
        </p:nvSpPr>
        <p:spPr>
          <a:xfrm>
            <a:off x="777240" y="1554480"/>
            <a:ext cx="2194560" cy="457200"/>
          </a:xfrm>
          <a:prstGeom prst="rect">
            <a:avLst/>
          </a:prstGeom>
          <a:noFill/>
          <a:ln/>
        </p:spPr>
        <p:txBody>
          <a:bodyPr wrap="square" lIns="0" tIns="0" rIns="0" bIns="0" rtlCol="0" anchor="t"/>
          <a:lstStyle/>
          <a:p>
            <a:pPr indent="0" marL="0">
              <a:buNone/>
            </a:pPr>
            <a:r>
              <a:rPr lang="en-US" sz="1700" b="1" dirty="0">
                <a:solidFill>
                  <a:schemeClr val="tx2"/>
                </a:solidFill>
              </a:rPr>
              <a:t>People and organisation</a:t>
            </a:r>
            <a:endParaRPr lang="en-US" sz="1700" dirty="0"/>
          </a:p>
        </p:txBody>
      </p:sp>
      <p:sp>
        <p:nvSpPr>
          <p:cNvPr id="5" name="Text 3"/>
          <p:cNvSpPr txBox="1"/>
          <p:nvPr/>
        </p:nvSpPr>
        <p:spPr>
          <a:xfrm>
            <a:off x="777240" y="2103120"/>
            <a:ext cx="2194560" cy="192024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Actor, in one of five roles: trainer, validator, deployer, operator, consumer</a:t>
            </a:r>
            <a:endParaRPr lang="en-US" sz="1500" dirty="0"/>
          </a:p>
          <a:p>
            <a:pPr marL="177800" indent="-177800">
              <a:spcAft>
                <a:spcPts val="600"/>
              </a:spcAft>
              <a:buSzPct val="100000"/>
              <a:buChar char="•"/>
            </a:pPr>
            <a:r>
              <a:rPr lang="en-US" sz="1500" dirty="0">
                <a:solidFill>
                  <a:schemeClr val="tx1"/>
                </a:solidFill>
              </a:rPr>
              <a:t>Department</a:t>
            </a:r>
            <a:endParaRPr lang="en-US" sz="1500" dirty="0"/>
          </a:p>
        </p:txBody>
      </p:sp>
      <p:sp>
        <p:nvSpPr>
          <p:cNvPr id="6" name="group"/>
          <p:cNvSpPr/>
          <p:nvPr/>
        </p:nvSpPr>
        <p:spPr>
          <a:xfrm>
            <a:off x="3364992" y="1371600"/>
            <a:ext cx="2606040" cy="2743200"/>
          </a:xfrm>
          <a:prstGeom prst="roundRect">
            <a:avLst>
              <a:gd name="adj" fmla="val 2807"/>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7" name="Text 5"/>
          <p:cNvSpPr txBox="1"/>
          <p:nvPr/>
        </p:nvSpPr>
        <p:spPr>
          <a:xfrm>
            <a:off x="3593592" y="1554480"/>
            <a:ext cx="2194560" cy="457200"/>
          </a:xfrm>
          <a:prstGeom prst="rect">
            <a:avLst/>
          </a:prstGeom>
          <a:noFill/>
          <a:ln/>
        </p:spPr>
        <p:txBody>
          <a:bodyPr wrap="square" lIns="0" tIns="0" rIns="0" bIns="0" rtlCol="0" anchor="t"/>
          <a:lstStyle/>
          <a:p>
            <a:pPr indent="0" marL="0">
              <a:buNone/>
            </a:pPr>
            <a:r>
              <a:rPr lang="en-US" sz="1700" b="1" dirty="0">
                <a:solidFill>
                  <a:schemeClr val="tx2"/>
                </a:solidFill>
              </a:rPr>
              <a:t>Model and data</a:t>
            </a:r>
            <a:endParaRPr lang="en-US" sz="1700" dirty="0"/>
          </a:p>
        </p:txBody>
      </p:sp>
      <p:sp>
        <p:nvSpPr>
          <p:cNvPr id="8" name="Text 6"/>
          <p:cNvSpPr txBox="1"/>
          <p:nvPr/>
        </p:nvSpPr>
        <p:spPr>
          <a:xfrm>
            <a:off x="3593592" y="2103120"/>
            <a:ext cx="2194560" cy="192024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AI model</a:t>
            </a:r>
            <a:endParaRPr lang="en-US" sz="1500" dirty="0"/>
          </a:p>
          <a:p>
            <a:pPr marL="177800" indent="-177800">
              <a:spcAft>
                <a:spcPts val="600"/>
              </a:spcAft>
              <a:buSzPct val="100000"/>
              <a:buChar char="•"/>
            </a:pPr>
            <a:r>
              <a:rPr lang="en-US" sz="1500" dirty="0">
                <a:solidFill>
                  <a:schemeClr val="tx1"/>
                </a:solidFill>
              </a:rPr>
              <a:t>Training dataset</a:t>
            </a:r>
            <a:endParaRPr lang="en-US" sz="1500" dirty="0"/>
          </a:p>
          <a:p>
            <a:pPr marL="177800" indent="-177800">
              <a:spcAft>
                <a:spcPts val="600"/>
              </a:spcAft>
              <a:buSzPct val="100000"/>
              <a:buChar char="•"/>
            </a:pPr>
            <a:r>
              <a:rPr lang="en-US" sz="1500" dirty="0">
                <a:solidFill>
                  <a:schemeClr val="tx1"/>
                </a:solidFill>
              </a:rPr>
              <a:t>Deployment environment</a:t>
            </a:r>
            <a:endParaRPr lang="en-US" sz="1500" dirty="0"/>
          </a:p>
          <a:p>
            <a:pPr marL="177800" indent="-177800">
              <a:spcAft>
                <a:spcPts val="600"/>
              </a:spcAft>
              <a:buSzPct val="100000"/>
              <a:buChar char="•"/>
            </a:pPr>
            <a:r>
              <a:rPr lang="en-US" sz="1500" dirty="0">
                <a:solidFill>
                  <a:schemeClr val="tx1"/>
                </a:solidFill>
              </a:rPr>
              <a:t>Data category</a:t>
            </a:r>
            <a:endParaRPr lang="en-US" sz="1500" dirty="0"/>
          </a:p>
        </p:txBody>
      </p:sp>
      <p:sp>
        <p:nvSpPr>
          <p:cNvPr id="9" name="group"/>
          <p:cNvSpPr/>
          <p:nvPr/>
        </p:nvSpPr>
        <p:spPr>
          <a:xfrm>
            <a:off x="6181344" y="1371600"/>
            <a:ext cx="2606040" cy="2743200"/>
          </a:xfrm>
          <a:prstGeom prst="roundRect">
            <a:avLst>
              <a:gd name="adj" fmla="val 2807"/>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10" name="Text 8"/>
          <p:cNvSpPr txBox="1"/>
          <p:nvPr/>
        </p:nvSpPr>
        <p:spPr>
          <a:xfrm>
            <a:off x="6409944" y="1554480"/>
            <a:ext cx="2194560" cy="457200"/>
          </a:xfrm>
          <a:prstGeom prst="rect">
            <a:avLst/>
          </a:prstGeom>
          <a:noFill/>
          <a:ln/>
        </p:spPr>
        <p:txBody>
          <a:bodyPr wrap="square" lIns="0" tIns="0" rIns="0" bIns="0" rtlCol="0" anchor="t"/>
          <a:lstStyle/>
          <a:p>
            <a:pPr indent="0" marL="0">
              <a:buNone/>
            </a:pPr>
            <a:r>
              <a:rPr lang="en-US" sz="1700" b="1" dirty="0">
                <a:solidFill>
                  <a:schemeClr val="tx2"/>
                </a:solidFill>
              </a:rPr>
              <a:t>Governance</a:t>
            </a:r>
            <a:endParaRPr lang="en-US" sz="1700" dirty="0"/>
          </a:p>
        </p:txBody>
      </p:sp>
      <p:sp>
        <p:nvSpPr>
          <p:cNvPr id="11" name="Text 9"/>
          <p:cNvSpPr txBox="1"/>
          <p:nvPr/>
        </p:nvSpPr>
        <p:spPr>
          <a:xfrm>
            <a:off x="6409944" y="2103120"/>
            <a:ext cx="2194560" cy="192024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Security constraint</a:t>
            </a:r>
            <a:endParaRPr lang="en-US" sz="1500" dirty="0"/>
          </a:p>
          <a:p>
            <a:pPr marL="177800" indent="-177800">
              <a:spcAft>
                <a:spcPts val="600"/>
              </a:spcAft>
              <a:buSzPct val="100000"/>
              <a:buChar char="•"/>
            </a:pPr>
            <a:r>
              <a:rPr lang="en-US" sz="1500" dirty="0">
                <a:solidFill>
                  <a:schemeClr val="tx1"/>
                </a:solidFill>
              </a:rPr>
              <a:t>Regulatory requirement</a:t>
            </a:r>
            <a:endParaRPr lang="en-US" sz="1500" dirty="0"/>
          </a:p>
          <a:p>
            <a:pPr marL="177800" indent="-177800">
              <a:spcAft>
                <a:spcPts val="600"/>
              </a:spcAft>
              <a:buSzPct val="100000"/>
              <a:buChar char="•"/>
            </a:pPr>
            <a:r>
              <a:rPr lang="en-US" sz="1500" dirty="0">
                <a:solidFill>
                  <a:schemeClr val="tx1"/>
                </a:solidFill>
              </a:rPr>
              <a:t>Consent record</a:t>
            </a:r>
            <a:endParaRPr lang="en-US" sz="1500" dirty="0"/>
          </a:p>
          <a:p>
            <a:pPr marL="177800" indent="-177800">
              <a:spcAft>
                <a:spcPts val="600"/>
              </a:spcAft>
              <a:buSzPct val="100000"/>
              <a:buChar char="•"/>
            </a:pPr>
            <a:r>
              <a:rPr lang="en-US" sz="1500" dirty="0">
                <a:solidFill>
                  <a:schemeClr val="tx1"/>
                </a:solidFill>
              </a:rPr>
              <a:t>Legal basis</a:t>
            </a:r>
            <a:endParaRPr lang="en-US" sz="1500" dirty="0"/>
          </a:p>
        </p:txBody>
      </p:sp>
      <p:sp>
        <p:nvSpPr>
          <p:cNvPr id="12" name="group"/>
          <p:cNvSpPr/>
          <p:nvPr/>
        </p:nvSpPr>
        <p:spPr>
          <a:xfrm>
            <a:off x="8997696" y="1371600"/>
            <a:ext cx="2606040" cy="2743200"/>
          </a:xfrm>
          <a:prstGeom prst="roundRect">
            <a:avLst>
              <a:gd name="adj" fmla="val 2807"/>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13" name="Text 11"/>
          <p:cNvSpPr txBox="1"/>
          <p:nvPr/>
        </p:nvSpPr>
        <p:spPr>
          <a:xfrm>
            <a:off x="9226296" y="1554480"/>
            <a:ext cx="2194560" cy="457200"/>
          </a:xfrm>
          <a:prstGeom prst="rect">
            <a:avLst/>
          </a:prstGeom>
          <a:noFill/>
          <a:ln/>
        </p:spPr>
        <p:txBody>
          <a:bodyPr wrap="square" lIns="0" tIns="0" rIns="0" bIns="0" rtlCol="0" anchor="t"/>
          <a:lstStyle/>
          <a:p>
            <a:pPr indent="0" marL="0">
              <a:buNone/>
            </a:pPr>
            <a:r>
              <a:rPr lang="en-US" sz="1700" b="1" dirty="0">
                <a:solidFill>
                  <a:schemeClr val="tx2"/>
                </a:solidFill>
              </a:rPr>
              <a:t>Operation</a:t>
            </a:r>
            <a:endParaRPr lang="en-US" sz="1700" dirty="0"/>
          </a:p>
        </p:txBody>
      </p:sp>
      <p:sp>
        <p:nvSpPr>
          <p:cNvPr id="14" name="Text 12"/>
          <p:cNvSpPr txBox="1"/>
          <p:nvPr/>
        </p:nvSpPr>
        <p:spPr>
          <a:xfrm>
            <a:off x="9226296" y="2103120"/>
            <a:ext cx="2194560" cy="192024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Monitoring signal</a:t>
            </a:r>
            <a:endParaRPr lang="en-US" sz="1500" dirty="0"/>
          </a:p>
          <a:p>
            <a:pPr marL="177800" indent="-177800">
              <a:spcAft>
                <a:spcPts val="600"/>
              </a:spcAft>
              <a:buSzPct val="100000"/>
              <a:buChar char="•"/>
            </a:pPr>
            <a:r>
              <a:rPr lang="en-US" sz="1500" dirty="0">
                <a:solidFill>
                  <a:schemeClr val="tx1"/>
                </a:solidFill>
              </a:rPr>
              <a:t>Incident</a:t>
            </a:r>
            <a:endParaRPr lang="en-US" sz="1500" dirty="0"/>
          </a:p>
        </p:txBody>
      </p:sp>
      <p:sp>
        <p:nvSpPr>
          <p:cNvPr id="15" name="rule"/>
          <p:cNvSpPr/>
          <p:nvPr/>
        </p:nvSpPr>
        <p:spPr>
          <a:xfrm>
            <a:off x="548640" y="4434840"/>
            <a:ext cx="11064240" cy="1371600"/>
          </a:xfrm>
          <a:prstGeom prst="roundRect">
            <a:avLst>
              <a:gd name="adj" fmla="val 5333"/>
            </a:avLst>
          </a:prstGeom>
          <a:solidFill>
            <a:schemeClr val="tx2"/>
          </a:solidFill>
          <a:ln w="6350">
            <a:solidFill>
              <a:schemeClr val="tx2"/>
            </a:solidFill>
            <a:prstDash val="solid"/>
          </a:ln>
          <a:effectLst>
            <a:outerShdw sx="100000" sy="100000" kx="0" ky="0" algn="bl" rotWithShape="0" blurRad="76200" dist="25400" dir="5400000">
              <a:srgbClr val="1B2430">
                <a:alpha val="12000"/>
              </a:srgbClr>
            </a:outerShdw>
          </a:effectLst>
        </p:spPr>
      </p:sp>
      <p:sp>
        <p:nvSpPr>
          <p:cNvPr id="16" name="Text 14"/>
          <p:cNvSpPr txBox="1"/>
          <p:nvPr/>
        </p:nvSpPr>
        <p:spPr>
          <a:xfrm>
            <a:off x="822960" y="4572000"/>
            <a:ext cx="10515600" cy="1097280"/>
          </a:xfrm>
          <a:prstGeom prst="rect">
            <a:avLst/>
          </a:prstGeom>
          <a:noFill/>
          <a:ln/>
        </p:spPr>
        <p:txBody>
          <a:bodyPr wrap="square" lIns="0" tIns="0" rIns="0" bIns="0" rtlCol="0" anchor="ctr"/>
          <a:lstStyle/>
          <a:p>
            <a:pPr indent="0" marL="0">
              <a:buNone/>
            </a:pPr>
            <a:r>
              <a:rPr lang="en-US" sz="1800" b="1" dirty="0">
                <a:solidFill>
                  <a:schemeClr val="accent2"/>
                </a:solidFill>
              </a:rPr>
              <a:t>12 element types and 14 typed relations. </a:t>
            </a:r>
            <a:pPr indent="0" marL="0">
              <a:buNone/>
            </a:pPr>
            <a:r>
              <a:rPr lang="en-US" sz="1800" dirty="0">
                <a:solidFill>
                  <a:schemeClr val="bg1"/>
                </a:solidFill>
              </a:rPr>
              <a:t>Each relation is defined only between specific element types. A link the language does not define is stored as a plain dependency, carries no meaning and is flagged in review.</a:t>
            </a:r>
            <a:endParaRPr lang="en-US" sz="1800" dirty="0"/>
          </a:p>
        </p:txBody>
      </p:sp>
      <p:sp>
        <p:nvSpPr>
          <p:cNvPr id="25" name="Slide Number Placeholder 0"/>
          <p:cNvSpPr>
            <a:spLocks noGrp="1"/>
          </p:cNvSpPr>
          <p:nvPr>
            <p:ph type="sldNum" sz="quarter" idx="4294967295"/>
          </p:nvPr>
        </p:nvSpPr>
        <p:spPr>
          <a:xfrm>
            <a:off x="11247120" y="635508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Relations: what a well-formed AI model design looks like</a:t>
            </a:r>
            <a:endParaRPr lang="en-US" sz="3200" dirty="0"/>
          </a:p>
        </p:txBody>
      </p:sp>
      <p:sp>
        <p:nvSpPr>
          <p:cNvPr id="3" name="element"/>
          <p:cNvSpPr/>
          <p:nvPr/>
        </p:nvSpPr>
        <p:spPr>
          <a:xfrm>
            <a:off x="5257800" y="3063240"/>
            <a:ext cx="1737360" cy="731520"/>
          </a:xfrm>
          <a:prstGeom prst="roundRect">
            <a:avLst>
              <a:gd name="adj" fmla="val 10000"/>
            </a:avLst>
          </a:prstGeom>
          <a:solidFill>
            <a:schemeClr val="accent2"/>
          </a:solidFill>
          <a:ln w="12700">
            <a:solidFill>
              <a:schemeClr val="accent2"/>
            </a:solidFill>
            <a:prstDash val="solid"/>
          </a:ln>
        </p:spPr>
      </p:sp>
      <p:sp>
        <p:nvSpPr>
          <p:cNvPr id="4" name="Text 2"/>
          <p:cNvSpPr txBox="1"/>
          <p:nvPr/>
        </p:nvSpPr>
        <p:spPr>
          <a:xfrm>
            <a:off x="5257800" y="3063240"/>
            <a:ext cx="1737360" cy="731520"/>
          </a:xfrm>
          <a:prstGeom prst="rect">
            <a:avLst/>
          </a:prstGeom>
          <a:noFill/>
          <a:ln/>
        </p:spPr>
        <p:txBody>
          <a:bodyPr wrap="square" lIns="25400" tIns="25400" rIns="25400" bIns="25400" rtlCol="0" anchor="ctr"/>
          <a:lstStyle/>
          <a:p>
            <a:pPr algn="ctr" indent="0" marL="0">
              <a:buNone/>
            </a:pPr>
            <a:r>
              <a:rPr lang="en-US" sz="1400" b="1" dirty="0">
                <a:solidFill>
                  <a:schemeClr val="bg1"/>
                </a:solidFill>
              </a:rPr>
              <a:t>AI model</a:t>
            </a:r>
            <a:endParaRPr lang="en-US" sz="1400" dirty="0"/>
          </a:p>
        </p:txBody>
      </p:sp>
      <p:sp>
        <p:nvSpPr>
          <p:cNvPr id="5" name="element"/>
          <p:cNvSpPr/>
          <p:nvPr/>
        </p:nvSpPr>
        <p:spPr>
          <a:xfrm>
            <a:off x="640080" y="1417320"/>
            <a:ext cx="1737360" cy="548640"/>
          </a:xfrm>
          <a:prstGeom prst="roundRect">
            <a:avLst>
              <a:gd name="adj" fmla="val 13333"/>
            </a:avLst>
          </a:prstGeom>
          <a:solidFill>
            <a:schemeClr val="accent1"/>
          </a:solidFill>
          <a:ln w="12700">
            <a:solidFill>
              <a:schemeClr val="accent1"/>
            </a:solidFill>
            <a:prstDash val="solid"/>
          </a:ln>
        </p:spPr>
      </p:sp>
      <p:sp>
        <p:nvSpPr>
          <p:cNvPr id="6" name="Text 4"/>
          <p:cNvSpPr txBox="1"/>
          <p:nvPr/>
        </p:nvSpPr>
        <p:spPr>
          <a:xfrm>
            <a:off x="640080" y="1417320"/>
            <a:ext cx="1737360" cy="548640"/>
          </a:xfrm>
          <a:prstGeom prst="rect">
            <a:avLst/>
          </a:prstGeom>
          <a:noFill/>
          <a:ln/>
        </p:spPr>
        <p:txBody>
          <a:bodyPr wrap="square" lIns="25400" tIns="25400" rIns="25400" bIns="25400" rtlCol="0" anchor="ctr"/>
          <a:lstStyle/>
          <a:p>
            <a:pPr algn="ctr" indent="0" marL="0">
              <a:buNone/>
            </a:pPr>
            <a:r>
              <a:rPr lang="en-US" sz="1400" b="1" dirty="0">
                <a:solidFill>
                  <a:schemeClr val="bg1"/>
                </a:solidFill>
              </a:rPr>
              <a:t>Trainer</a:t>
            </a:r>
            <a:endParaRPr lang="en-US" sz="1400" dirty="0"/>
          </a:p>
        </p:txBody>
      </p:sp>
      <p:sp>
        <p:nvSpPr>
          <p:cNvPr id="7" name="relation"/>
          <p:cNvSpPr/>
          <p:nvPr/>
        </p:nvSpPr>
        <p:spPr>
          <a:xfrm>
            <a:off x="2377440" y="1691640"/>
            <a:ext cx="2880360" cy="1737360"/>
          </a:xfrm>
          <a:prstGeom prst="line">
            <a:avLst/>
          </a:prstGeom>
          <a:noFill/>
          <a:ln w="19050">
            <a:solidFill>
              <a:schemeClr val="accent5"/>
            </a:solidFill>
            <a:prstDash val="solid"/>
            <a:tailEnd type="triangle"/>
          </a:ln>
        </p:spPr>
      </p:sp>
      <p:sp>
        <p:nvSpPr>
          <p:cNvPr id="8" name="Text 6"/>
          <p:cNvSpPr txBox="1"/>
          <p:nvPr/>
        </p:nvSpPr>
        <p:spPr>
          <a:xfrm>
            <a:off x="3084271" y="2284171"/>
            <a:ext cx="1005840" cy="274320"/>
          </a:xfrm>
          <a:prstGeom prst="rect">
            <a:avLst/>
          </a:prstGeom>
          <a:solidFill>
            <a:schemeClr val="bg1"/>
          </a:solidFill>
          <a:ln/>
        </p:spPr>
        <p:txBody>
          <a:bodyPr wrap="square" lIns="0" tIns="0" rIns="0" bIns="0" rtlCol="0" anchor="ctr"/>
          <a:lstStyle/>
          <a:p>
            <a:pPr algn="ctr" indent="0" marL="0">
              <a:buNone/>
            </a:pPr>
            <a:r>
              <a:rPr lang="en-US" sz="1100" i="1" dirty="0">
                <a:solidFill>
                  <a:schemeClr val="tx2"/>
                </a:solidFill>
                <a:latin typeface="Courier New" pitchFamily="34" charset="0"/>
                <a:ea typeface="Courier New" pitchFamily="34" charset="-122"/>
                <a:cs typeface="Courier New" pitchFamily="34" charset="-120"/>
              </a:rPr>
              <a:t>trains</a:t>
            </a:r>
            <a:endParaRPr lang="en-US" sz="1100" dirty="0"/>
          </a:p>
        </p:txBody>
      </p:sp>
      <p:sp>
        <p:nvSpPr>
          <p:cNvPr id="9" name="element"/>
          <p:cNvSpPr/>
          <p:nvPr/>
        </p:nvSpPr>
        <p:spPr>
          <a:xfrm>
            <a:off x="640080" y="2377440"/>
            <a:ext cx="1737360" cy="548640"/>
          </a:xfrm>
          <a:prstGeom prst="roundRect">
            <a:avLst>
              <a:gd name="adj" fmla="val 13333"/>
            </a:avLst>
          </a:prstGeom>
          <a:solidFill>
            <a:schemeClr val="accent1"/>
          </a:solidFill>
          <a:ln w="12700">
            <a:solidFill>
              <a:schemeClr val="accent1"/>
            </a:solidFill>
            <a:prstDash val="solid"/>
          </a:ln>
        </p:spPr>
      </p:sp>
      <p:sp>
        <p:nvSpPr>
          <p:cNvPr id="10" name="Text 8"/>
          <p:cNvSpPr txBox="1"/>
          <p:nvPr/>
        </p:nvSpPr>
        <p:spPr>
          <a:xfrm>
            <a:off x="640080" y="2377440"/>
            <a:ext cx="1737360" cy="548640"/>
          </a:xfrm>
          <a:prstGeom prst="rect">
            <a:avLst/>
          </a:prstGeom>
          <a:noFill/>
          <a:ln/>
        </p:spPr>
        <p:txBody>
          <a:bodyPr wrap="square" lIns="25400" tIns="25400" rIns="25400" bIns="25400" rtlCol="0" anchor="ctr"/>
          <a:lstStyle/>
          <a:p>
            <a:pPr algn="ctr" indent="0" marL="0">
              <a:buNone/>
            </a:pPr>
            <a:r>
              <a:rPr lang="en-US" sz="1400" b="1" dirty="0">
                <a:solidFill>
                  <a:schemeClr val="bg1"/>
                </a:solidFill>
              </a:rPr>
              <a:t>Validator</a:t>
            </a:r>
            <a:endParaRPr lang="en-US" sz="1400" dirty="0"/>
          </a:p>
        </p:txBody>
      </p:sp>
      <p:sp>
        <p:nvSpPr>
          <p:cNvPr id="11" name="relation"/>
          <p:cNvSpPr/>
          <p:nvPr/>
        </p:nvSpPr>
        <p:spPr>
          <a:xfrm>
            <a:off x="2377440" y="2651760"/>
            <a:ext cx="2880360" cy="777240"/>
          </a:xfrm>
          <a:prstGeom prst="line">
            <a:avLst/>
          </a:prstGeom>
          <a:noFill/>
          <a:ln w="19050">
            <a:solidFill>
              <a:schemeClr val="accent5"/>
            </a:solidFill>
            <a:prstDash val="solid"/>
            <a:tailEnd type="triangle"/>
          </a:ln>
        </p:spPr>
      </p:sp>
      <p:sp>
        <p:nvSpPr>
          <p:cNvPr id="12" name="Text 10"/>
          <p:cNvSpPr txBox="1"/>
          <p:nvPr/>
        </p:nvSpPr>
        <p:spPr>
          <a:xfrm>
            <a:off x="3084271" y="2841041"/>
            <a:ext cx="1005840" cy="274320"/>
          </a:xfrm>
          <a:prstGeom prst="rect">
            <a:avLst/>
          </a:prstGeom>
          <a:solidFill>
            <a:schemeClr val="bg1"/>
          </a:solidFill>
          <a:ln/>
        </p:spPr>
        <p:txBody>
          <a:bodyPr wrap="square" lIns="0" tIns="0" rIns="0" bIns="0" rtlCol="0" anchor="ctr"/>
          <a:lstStyle/>
          <a:p>
            <a:pPr algn="ctr" indent="0" marL="0">
              <a:buNone/>
            </a:pPr>
            <a:r>
              <a:rPr lang="en-US" sz="1100" i="1" dirty="0">
                <a:solidFill>
                  <a:schemeClr val="tx2"/>
                </a:solidFill>
                <a:latin typeface="Courier New" pitchFamily="34" charset="0"/>
                <a:ea typeface="Courier New" pitchFamily="34" charset="-122"/>
                <a:cs typeface="Courier New" pitchFamily="34" charset="-120"/>
              </a:rPr>
              <a:t>validates</a:t>
            </a:r>
            <a:endParaRPr lang="en-US" sz="1100" dirty="0"/>
          </a:p>
        </p:txBody>
      </p:sp>
      <p:sp>
        <p:nvSpPr>
          <p:cNvPr id="13" name="element"/>
          <p:cNvSpPr/>
          <p:nvPr/>
        </p:nvSpPr>
        <p:spPr>
          <a:xfrm>
            <a:off x="640080" y="3337560"/>
            <a:ext cx="1737360" cy="548640"/>
          </a:xfrm>
          <a:prstGeom prst="roundRect">
            <a:avLst>
              <a:gd name="adj" fmla="val 13333"/>
            </a:avLst>
          </a:prstGeom>
          <a:solidFill>
            <a:schemeClr val="accent1"/>
          </a:solidFill>
          <a:ln w="12700">
            <a:solidFill>
              <a:schemeClr val="accent1"/>
            </a:solidFill>
            <a:prstDash val="solid"/>
          </a:ln>
        </p:spPr>
      </p:sp>
      <p:sp>
        <p:nvSpPr>
          <p:cNvPr id="14" name="Text 12"/>
          <p:cNvSpPr txBox="1"/>
          <p:nvPr/>
        </p:nvSpPr>
        <p:spPr>
          <a:xfrm>
            <a:off x="640080" y="3337560"/>
            <a:ext cx="1737360" cy="548640"/>
          </a:xfrm>
          <a:prstGeom prst="rect">
            <a:avLst/>
          </a:prstGeom>
          <a:noFill/>
          <a:ln/>
        </p:spPr>
        <p:txBody>
          <a:bodyPr wrap="square" lIns="25400" tIns="25400" rIns="25400" bIns="25400" rtlCol="0" anchor="ctr"/>
          <a:lstStyle/>
          <a:p>
            <a:pPr algn="ctr" indent="0" marL="0">
              <a:buNone/>
            </a:pPr>
            <a:r>
              <a:rPr lang="en-US" sz="1400" b="1" dirty="0">
                <a:solidFill>
                  <a:schemeClr val="bg1"/>
                </a:solidFill>
              </a:rPr>
              <a:t>Deployer</a:t>
            </a:r>
            <a:endParaRPr lang="en-US" sz="1400" dirty="0"/>
          </a:p>
        </p:txBody>
      </p:sp>
      <p:sp>
        <p:nvSpPr>
          <p:cNvPr id="15" name="relation"/>
          <p:cNvSpPr/>
          <p:nvPr/>
        </p:nvSpPr>
        <p:spPr>
          <a:xfrm flipV="1">
            <a:off x="2377440" y="3429000"/>
            <a:ext cx="2880360" cy="182880"/>
          </a:xfrm>
          <a:prstGeom prst="line">
            <a:avLst/>
          </a:prstGeom>
          <a:noFill/>
          <a:ln w="19050">
            <a:solidFill>
              <a:schemeClr val="accent5"/>
            </a:solidFill>
            <a:prstDash val="solid"/>
            <a:tailEnd type="triangle"/>
          </a:ln>
        </p:spPr>
      </p:sp>
      <p:sp>
        <p:nvSpPr>
          <p:cNvPr id="16" name="Text 14"/>
          <p:cNvSpPr txBox="1"/>
          <p:nvPr/>
        </p:nvSpPr>
        <p:spPr>
          <a:xfrm>
            <a:off x="3084271" y="3397910"/>
            <a:ext cx="1005840" cy="274320"/>
          </a:xfrm>
          <a:prstGeom prst="rect">
            <a:avLst/>
          </a:prstGeom>
          <a:solidFill>
            <a:schemeClr val="bg1"/>
          </a:solidFill>
          <a:ln/>
        </p:spPr>
        <p:txBody>
          <a:bodyPr wrap="square" lIns="0" tIns="0" rIns="0" bIns="0" rtlCol="0" anchor="ctr"/>
          <a:lstStyle/>
          <a:p>
            <a:pPr algn="ctr" indent="0" marL="0">
              <a:buNone/>
            </a:pPr>
            <a:r>
              <a:rPr lang="en-US" sz="1100" i="1" dirty="0">
                <a:solidFill>
                  <a:schemeClr val="tx2"/>
                </a:solidFill>
                <a:latin typeface="Courier New" pitchFamily="34" charset="0"/>
                <a:ea typeface="Courier New" pitchFamily="34" charset="-122"/>
                <a:cs typeface="Courier New" pitchFamily="34" charset="-120"/>
              </a:rPr>
              <a:t>deploys</a:t>
            </a:r>
            <a:endParaRPr lang="en-US" sz="1100" dirty="0"/>
          </a:p>
        </p:txBody>
      </p:sp>
      <p:sp>
        <p:nvSpPr>
          <p:cNvPr id="17" name="element"/>
          <p:cNvSpPr/>
          <p:nvPr/>
        </p:nvSpPr>
        <p:spPr>
          <a:xfrm>
            <a:off x="640080" y="4297680"/>
            <a:ext cx="1737360" cy="548640"/>
          </a:xfrm>
          <a:prstGeom prst="roundRect">
            <a:avLst>
              <a:gd name="adj" fmla="val 13333"/>
            </a:avLst>
          </a:prstGeom>
          <a:solidFill>
            <a:schemeClr val="accent1"/>
          </a:solidFill>
          <a:ln w="12700">
            <a:solidFill>
              <a:schemeClr val="accent1"/>
            </a:solidFill>
            <a:prstDash val="solid"/>
          </a:ln>
        </p:spPr>
      </p:sp>
      <p:sp>
        <p:nvSpPr>
          <p:cNvPr id="18" name="Text 16"/>
          <p:cNvSpPr txBox="1"/>
          <p:nvPr/>
        </p:nvSpPr>
        <p:spPr>
          <a:xfrm>
            <a:off x="640080" y="4297680"/>
            <a:ext cx="1737360" cy="548640"/>
          </a:xfrm>
          <a:prstGeom prst="rect">
            <a:avLst/>
          </a:prstGeom>
          <a:noFill/>
          <a:ln/>
        </p:spPr>
        <p:txBody>
          <a:bodyPr wrap="square" lIns="25400" tIns="25400" rIns="25400" bIns="25400" rtlCol="0" anchor="ctr"/>
          <a:lstStyle/>
          <a:p>
            <a:pPr algn="ctr" indent="0" marL="0">
              <a:buNone/>
            </a:pPr>
            <a:r>
              <a:rPr lang="en-US" sz="1400" b="1" dirty="0">
                <a:solidFill>
                  <a:schemeClr val="bg1"/>
                </a:solidFill>
              </a:rPr>
              <a:t>Operator</a:t>
            </a:r>
            <a:endParaRPr lang="en-US" sz="1400" dirty="0"/>
          </a:p>
        </p:txBody>
      </p:sp>
      <p:sp>
        <p:nvSpPr>
          <p:cNvPr id="19" name="relation"/>
          <p:cNvSpPr/>
          <p:nvPr/>
        </p:nvSpPr>
        <p:spPr>
          <a:xfrm flipV="1">
            <a:off x="2377440" y="3429000"/>
            <a:ext cx="2880360" cy="1143000"/>
          </a:xfrm>
          <a:prstGeom prst="line">
            <a:avLst/>
          </a:prstGeom>
          <a:noFill/>
          <a:ln w="19050">
            <a:solidFill>
              <a:schemeClr val="accent5"/>
            </a:solidFill>
            <a:prstDash val="solid"/>
            <a:tailEnd type="triangle"/>
          </a:ln>
        </p:spPr>
      </p:sp>
      <p:sp>
        <p:nvSpPr>
          <p:cNvPr id="20" name="Text 18"/>
          <p:cNvSpPr txBox="1"/>
          <p:nvPr/>
        </p:nvSpPr>
        <p:spPr>
          <a:xfrm>
            <a:off x="3084271" y="3954780"/>
            <a:ext cx="1005840" cy="274320"/>
          </a:xfrm>
          <a:prstGeom prst="rect">
            <a:avLst/>
          </a:prstGeom>
          <a:solidFill>
            <a:schemeClr val="bg1"/>
          </a:solidFill>
          <a:ln/>
        </p:spPr>
        <p:txBody>
          <a:bodyPr wrap="square" lIns="0" tIns="0" rIns="0" bIns="0" rtlCol="0" anchor="ctr"/>
          <a:lstStyle/>
          <a:p>
            <a:pPr algn="ctr" indent="0" marL="0">
              <a:buNone/>
            </a:pPr>
            <a:r>
              <a:rPr lang="en-US" sz="1100" i="1" dirty="0">
                <a:solidFill>
                  <a:schemeClr val="tx2"/>
                </a:solidFill>
                <a:latin typeface="Courier New" pitchFamily="34" charset="0"/>
                <a:ea typeface="Courier New" pitchFamily="34" charset="-122"/>
                <a:cs typeface="Courier New" pitchFamily="34" charset="-120"/>
              </a:rPr>
              <a:t>operates</a:t>
            </a:r>
            <a:endParaRPr lang="en-US" sz="1100" dirty="0"/>
          </a:p>
        </p:txBody>
      </p:sp>
      <p:sp>
        <p:nvSpPr>
          <p:cNvPr id="21" name="element"/>
          <p:cNvSpPr/>
          <p:nvPr/>
        </p:nvSpPr>
        <p:spPr>
          <a:xfrm>
            <a:off x="9144000" y="1417320"/>
            <a:ext cx="2103120" cy="548640"/>
          </a:xfrm>
          <a:prstGeom prst="roundRect">
            <a:avLst>
              <a:gd name="adj" fmla="val 13333"/>
            </a:avLst>
          </a:prstGeom>
          <a:solidFill>
            <a:schemeClr val="accent1"/>
          </a:solidFill>
          <a:ln w="12700">
            <a:solidFill>
              <a:schemeClr val="accent1"/>
            </a:solidFill>
            <a:prstDash val="solid"/>
          </a:ln>
        </p:spPr>
      </p:sp>
      <p:sp>
        <p:nvSpPr>
          <p:cNvPr id="22" name="Text 20"/>
          <p:cNvSpPr txBox="1"/>
          <p:nvPr/>
        </p:nvSpPr>
        <p:spPr>
          <a:xfrm>
            <a:off x="9144000" y="1417320"/>
            <a:ext cx="2103120" cy="548640"/>
          </a:xfrm>
          <a:prstGeom prst="rect">
            <a:avLst/>
          </a:prstGeom>
          <a:noFill/>
          <a:ln/>
        </p:spPr>
        <p:txBody>
          <a:bodyPr wrap="square" lIns="25400" tIns="25400" rIns="25400" bIns="25400" rtlCol="0" anchor="ctr"/>
          <a:lstStyle/>
          <a:p>
            <a:pPr algn="ctr" indent="0" marL="0">
              <a:buNone/>
            </a:pPr>
            <a:r>
              <a:rPr lang="en-US" sz="1400" b="1" dirty="0">
                <a:solidFill>
                  <a:schemeClr val="bg1"/>
                </a:solidFill>
              </a:rPr>
              <a:t>Consumer</a:t>
            </a:r>
            <a:endParaRPr lang="en-US" sz="1400" dirty="0"/>
          </a:p>
        </p:txBody>
      </p:sp>
      <p:sp>
        <p:nvSpPr>
          <p:cNvPr id="23" name="relation"/>
          <p:cNvSpPr/>
          <p:nvPr/>
        </p:nvSpPr>
        <p:spPr>
          <a:xfrm flipV="1">
            <a:off x="6995160" y="1691640"/>
            <a:ext cx="2148840" cy="1737360"/>
          </a:xfrm>
          <a:prstGeom prst="line">
            <a:avLst/>
          </a:prstGeom>
          <a:noFill/>
          <a:ln w="19050">
            <a:solidFill>
              <a:schemeClr val="accent5"/>
            </a:solidFill>
            <a:prstDash val="solid"/>
            <a:tailEnd type="triangle"/>
          </a:ln>
        </p:spPr>
      </p:sp>
      <p:sp>
        <p:nvSpPr>
          <p:cNvPr id="24" name="Text 22"/>
          <p:cNvSpPr txBox="1"/>
          <p:nvPr/>
        </p:nvSpPr>
        <p:spPr>
          <a:xfrm>
            <a:off x="7647127" y="2284171"/>
            <a:ext cx="1188720" cy="274320"/>
          </a:xfrm>
          <a:prstGeom prst="rect">
            <a:avLst/>
          </a:prstGeom>
          <a:solidFill>
            <a:schemeClr val="bg1"/>
          </a:solidFill>
          <a:ln/>
        </p:spPr>
        <p:txBody>
          <a:bodyPr wrap="square" lIns="0" tIns="0" rIns="0" bIns="0" rtlCol="0" anchor="ctr"/>
          <a:lstStyle/>
          <a:p>
            <a:pPr algn="ctr" indent="0" marL="0">
              <a:buNone/>
            </a:pPr>
            <a:r>
              <a:rPr lang="en-US" sz="1100" i="1" dirty="0">
                <a:solidFill>
                  <a:schemeClr val="tx2"/>
                </a:solidFill>
                <a:latin typeface="Courier New" pitchFamily="34" charset="0"/>
                <a:ea typeface="Courier New" pitchFamily="34" charset="-122"/>
                <a:cs typeface="Courier New" pitchFamily="34" charset="-120"/>
              </a:rPr>
              <a:t>consumed_by</a:t>
            </a:r>
            <a:endParaRPr lang="en-US" sz="1100" dirty="0"/>
          </a:p>
        </p:txBody>
      </p:sp>
      <p:sp>
        <p:nvSpPr>
          <p:cNvPr id="25" name="element"/>
          <p:cNvSpPr/>
          <p:nvPr/>
        </p:nvSpPr>
        <p:spPr>
          <a:xfrm>
            <a:off x="9144000" y="2377440"/>
            <a:ext cx="2103120" cy="548640"/>
          </a:xfrm>
          <a:prstGeom prst="roundRect">
            <a:avLst>
              <a:gd name="adj" fmla="val 13333"/>
            </a:avLst>
          </a:prstGeom>
          <a:solidFill>
            <a:schemeClr val="accent5"/>
          </a:solidFill>
          <a:ln w="12700">
            <a:solidFill>
              <a:schemeClr val="accent5"/>
            </a:solidFill>
            <a:prstDash val="solid"/>
          </a:ln>
        </p:spPr>
      </p:sp>
      <p:sp>
        <p:nvSpPr>
          <p:cNvPr id="26" name="Text 24"/>
          <p:cNvSpPr txBox="1"/>
          <p:nvPr/>
        </p:nvSpPr>
        <p:spPr>
          <a:xfrm>
            <a:off x="9144000" y="2377440"/>
            <a:ext cx="2103120" cy="548640"/>
          </a:xfrm>
          <a:prstGeom prst="rect">
            <a:avLst/>
          </a:prstGeom>
          <a:noFill/>
          <a:ln/>
        </p:spPr>
        <p:txBody>
          <a:bodyPr wrap="square" lIns="25400" tIns="25400" rIns="25400" bIns="25400" rtlCol="0" anchor="ctr"/>
          <a:lstStyle/>
          <a:p>
            <a:pPr algn="ctr" indent="0" marL="0">
              <a:buNone/>
            </a:pPr>
            <a:r>
              <a:rPr lang="en-US" sz="1400" b="1" dirty="0">
                <a:solidFill>
                  <a:schemeClr val="bg1"/>
                </a:solidFill>
              </a:rPr>
              <a:t>Training dataset</a:t>
            </a:r>
            <a:endParaRPr lang="en-US" sz="1400" dirty="0"/>
          </a:p>
        </p:txBody>
      </p:sp>
      <p:sp>
        <p:nvSpPr>
          <p:cNvPr id="27" name="relation"/>
          <p:cNvSpPr/>
          <p:nvPr/>
        </p:nvSpPr>
        <p:spPr>
          <a:xfrm flipV="1">
            <a:off x="6995160" y="2651760"/>
            <a:ext cx="2148840" cy="777240"/>
          </a:xfrm>
          <a:prstGeom prst="line">
            <a:avLst/>
          </a:prstGeom>
          <a:noFill/>
          <a:ln w="19050">
            <a:solidFill>
              <a:schemeClr val="accent5"/>
            </a:solidFill>
            <a:prstDash val="solid"/>
            <a:tailEnd type="triangle"/>
          </a:ln>
        </p:spPr>
      </p:sp>
      <p:sp>
        <p:nvSpPr>
          <p:cNvPr id="28" name="Text 26"/>
          <p:cNvSpPr txBox="1"/>
          <p:nvPr/>
        </p:nvSpPr>
        <p:spPr>
          <a:xfrm>
            <a:off x="7647127" y="2841041"/>
            <a:ext cx="1188720" cy="274320"/>
          </a:xfrm>
          <a:prstGeom prst="rect">
            <a:avLst/>
          </a:prstGeom>
          <a:solidFill>
            <a:schemeClr val="bg1"/>
          </a:solidFill>
          <a:ln/>
        </p:spPr>
        <p:txBody>
          <a:bodyPr wrap="square" lIns="0" tIns="0" rIns="0" bIns="0" rtlCol="0" anchor="ctr"/>
          <a:lstStyle/>
          <a:p>
            <a:pPr algn="ctr" indent="0" marL="0">
              <a:buNone/>
            </a:pPr>
            <a:r>
              <a:rPr lang="en-US" sz="1100" i="1" dirty="0">
                <a:solidFill>
                  <a:schemeClr val="tx2"/>
                </a:solidFill>
                <a:latin typeface="Courier New" pitchFamily="34" charset="0"/>
                <a:ea typeface="Courier New" pitchFamily="34" charset="-122"/>
                <a:cs typeface="Courier New" pitchFamily="34" charset="-120"/>
              </a:rPr>
              <a:t>trained_on</a:t>
            </a:r>
            <a:endParaRPr lang="en-US" sz="1100" dirty="0"/>
          </a:p>
        </p:txBody>
      </p:sp>
      <p:sp>
        <p:nvSpPr>
          <p:cNvPr id="29" name="element"/>
          <p:cNvSpPr/>
          <p:nvPr/>
        </p:nvSpPr>
        <p:spPr>
          <a:xfrm>
            <a:off x="9144000" y="3337560"/>
            <a:ext cx="2103120" cy="548640"/>
          </a:xfrm>
          <a:prstGeom prst="roundRect">
            <a:avLst>
              <a:gd name="adj" fmla="val 13333"/>
            </a:avLst>
          </a:prstGeom>
          <a:solidFill>
            <a:schemeClr val="accent5"/>
          </a:solidFill>
          <a:ln w="12700">
            <a:solidFill>
              <a:schemeClr val="accent5"/>
            </a:solidFill>
            <a:prstDash val="solid"/>
          </a:ln>
        </p:spPr>
      </p:sp>
      <p:sp>
        <p:nvSpPr>
          <p:cNvPr id="30" name="Text 28"/>
          <p:cNvSpPr txBox="1"/>
          <p:nvPr/>
        </p:nvSpPr>
        <p:spPr>
          <a:xfrm>
            <a:off x="9144000" y="3337560"/>
            <a:ext cx="2103120" cy="548640"/>
          </a:xfrm>
          <a:prstGeom prst="rect">
            <a:avLst/>
          </a:prstGeom>
          <a:noFill/>
          <a:ln/>
        </p:spPr>
        <p:txBody>
          <a:bodyPr wrap="square" lIns="25400" tIns="25400" rIns="25400" bIns="25400" rtlCol="0" anchor="ctr"/>
          <a:lstStyle/>
          <a:p>
            <a:pPr algn="ctr" indent="0" marL="0">
              <a:buNone/>
            </a:pPr>
            <a:r>
              <a:rPr lang="en-US" sz="1400" b="1" dirty="0">
                <a:solidFill>
                  <a:schemeClr val="bg1"/>
                </a:solidFill>
              </a:rPr>
              <a:t>Environment</a:t>
            </a:r>
            <a:endParaRPr lang="en-US" sz="1400" dirty="0"/>
          </a:p>
        </p:txBody>
      </p:sp>
      <p:sp>
        <p:nvSpPr>
          <p:cNvPr id="31" name="relation"/>
          <p:cNvSpPr/>
          <p:nvPr/>
        </p:nvSpPr>
        <p:spPr>
          <a:xfrm>
            <a:off x="6995160" y="3429000"/>
            <a:ext cx="2148840" cy="182880"/>
          </a:xfrm>
          <a:prstGeom prst="line">
            <a:avLst/>
          </a:prstGeom>
          <a:noFill/>
          <a:ln w="19050">
            <a:solidFill>
              <a:schemeClr val="accent5"/>
            </a:solidFill>
            <a:prstDash val="solid"/>
            <a:tailEnd type="triangle"/>
          </a:ln>
        </p:spPr>
      </p:sp>
      <p:sp>
        <p:nvSpPr>
          <p:cNvPr id="32" name="Text 30"/>
          <p:cNvSpPr txBox="1"/>
          <p:nvPr/>
        </p:nvSpPr>
        <p:spPr>
          <a:xfrm>
            <a:off x="7647127" y="3397910"/>
            <a:ext cx="1188720" cy="274320"/>
          </a:xfrm>
          <a:prstGeom prst="rect">
            <a:avLst/>
          </a:prstGeom>
          <a:solidFill>
            <a:schemeClr val="bg1"/>
          </a:solidFill>
          <a:ln/>
        </p:spPr>
        <p:txBody>
          <a:bodyPr wrap="square" lIns="0" tIns="0" rIns="0" bIns="0" rtlCol="0" anchor="ctr"/>
          <a:lstStyle/>
          <a:p>
            <a:pPr algn="ctr" indent="0" marL="0">
              <a:buNone/>
            </a:pPr>
            <a:r>
              <a:rPr lang="en-US" sz="1100" i="1" dirty="0">
                <a:solidFill>
                  <a:schemeClr val="tx2"/>
                </a:solidFill>
                <a:latin typeface="Courier New" pitchFamily="34" charset="0"/>
                <a:ea typeface="Courier New" pitchFamily="34" charset="-122"/>
                <a:cs typeface="Courier New" pitchFamily="34" charset="-120"/>
              </a:rPr>
              <a:t>runs_in</a:t>
            </a:r>
            <a:endParaRPr lang="en-US" sz="1100" dirty="0"/>
          </a:p>
        </p:txBody>
      </p:sp>
      <p:sp>
        <p:nvSpPr>
          <p:cNvPr id="33" name="element"/>
          <p:cNvSpPr/>
          <p:nvPr/>
        </p:nvSpPr>
        <p:spPr>
          <a:xfrm>
            <a:off x="9144000" y="4297680"/>
            <a:ext cx="2103120" cy="548640"/>
          </a:xfrm>
          <a:prstGeom prst="roundRect">
            <a:avLst>
              <a:gd name="adj" fmla="val 13333"/>
            </a:avLst>
          </a:prstGeom>
          <a:solidFill>
            <a:schemeClr val="accent3"/>
          </a:solidFill>
          <a:ln w="12700">
            <a:solidFill>
              <a:schemeClr val="accent3"/>
            </a:solidFill>
            <a:prstDash val="solid"/>
          </a:ln>
        </p:spPr>
      </p:sp>
      <p:sp>
        <p:nvSpPr>
          <p:cNvPr id="34" name="Text 32"/>
          <p:cNvSpPr txBox="1"/>
          <p:nvPr/>
        </p:nvSpPr>
        <p:spPr>
          <a:xfrm>
            <a:off x="9144000" y="4297680"/>
            <a:ext cx="2103120" cy="548640"/>
          </a:xfrm>
          <a:prstGeom prst="rect">
            <a:avLst/>
          </a:prstGeom>
          <a:noFill/>
          <a:ln/>
        </p:spPr>
        <p:txBody>
          <a:bodyPr wrap="square" lIns="25400" tIns="25400" rIns="25400" bIns="25400" rtlCol="0" anchor="ctr"/>
          <a:lstStyle/>
          <a:p>
            <a:pPr algn="ctr" indent="0" marL="0">
              <a:buNone/>
            </a:pPr>
            <a:r>
              <a:rPr lang="en-US" sz="1400" b="1" dirty="0">
                <a:solidFill>
                  <a:schemeClr val="bg1"/>
                </a:solidFill>
              </a:rPr>
              <a:t>Regulatory req.</a:t>
            </a:r>
            <a:endParaRPr lang="en-US" sz="1400" dirty="0"/>
          </a:p>
        </p:txBody>
      </p:sp>
      <p:sp>
        <p:nvSpPr>
          <p:cNvPr id="35" name="relation"/>
          <p:cNvSpPr/>
          <p:nvPr/>
        </p:nvSpPr>
        <p:spPr>
          <a:xfrm>
            <a:off x="6995160" y="3429000"/>
            <a:ext cx="2148840" cy="1143000"/>
          </a:xfrm>
          <a:prstGeom prst="line">
            <a:avLst/>
          </a:prstGeom>
          <a:noFill/>
          <a:ln w="19050">
            <a:solidFill>
              <a:schemeClr val="accent5"/>
            </a:solidFill>
            <a:prstDash val="solid"/>
            <a:tailEnd type="triangle"/>
          </a:ln>
        </p:spPr>
      </p:sp>
      <p:sp>
        <p:nvSpPr>
          <p:cNvPr id="36" name="Text 34"/>
          <p:cNvSpPr txBox="1"/>
          <p:nvPr/>
        </p:nvSpPr>
        <p:spPr>
          <a:xfrm>
            <a:off x="7647127" y="3954780"/>
            <a:ext cx="1188720" cy="274320"/>
          </a:xfrm>
          <a:prstGeom prst="rect">
            <a:avLst/>
          </a:prstGeom>
          <a:solidFill>
            <a:schemeClr val="bg1"/>
          </a:solidFill>
          <a:ln/>
        </p:spPr>
        <p:txBody>
          <a:bodyPr wrap="square" lIns="0" tIns="0" rIns="0" bIns="0" rtlCol="0" anchor="ctr"/>
          <a:lstStyle/>
          <a:p>
            <a:pPr algn="ctr" indent="0" marL="0">
              <a:buNone/>
            </a:pPr>
            <a:r>
              <a:rPr lang="en-US" sz="1100" i="1" dirty="0">
                <a:solidFill>
                  <a:schemeClr val="tx2"/>
                </a:solidFill>
                <a:latin typeface="Courier New" pitchFamily="34" charset="0"/>
                <a:ea typeface="Courier New" pitchFamily="34" charset="-122"/>
                <a:cs typeface="Courier New" pitchFamily="34" charset="-120"/>
              </a:rPr>
              <a:t>covered_by</a:t>
            </a:r>
            <a:endParaRPr lang="en-US" sz="1100" dirty="0"/>
          </a:p>
        </p:txBody>
      </p:sp>
      <p:sp>
        <p:nvSpPr>
          <p:cNvPr id="37" name="element"/>
          <p:cNvSpPr/>
          <p:nvPr/>
        </p:nvSpPr>
        <p:spPr>
          <a:xfrm>
            <a:off x="5120640" y="5303520"/>
            <a:ext cx="2011680" cy="548640"/>
          </a:xfrm>
          <a:prstGeom prst="roundRect">
            <a:avLst>
              <a:gd name="adj" fmla="val 13333"/>
            </a:avLst>
          </a:prstGeom>
          <a:solidFill>
            <a:schemeClr val="accent3"/>
          </a:solidFill>
          <a:ln w="12700">
            <a:solidFill>
              <a:schemeClr val="accent3"/>
            </a:solidFill>
            <a:prstDash val="solid"/>
          </a:ln>
        </p:spPr>
      </p:sp>
      <p:sp>
        <p:nvSpPr>
          <p:cNvPr id="38" name="Text 36"/>
          <p:cNvSpPr txBox="1"/>
          <p:nvPr/>
        </p:nvSpPr>
        <p:spPr>
          <a:xfrm>
            <a:off x="5120640" y="5303520"/>
            <a:ext cx="2011680" cy="548640"/>
          </a:xfrm>
          <a:prstGeom prst="rect">
            <a:avLst/>
          </a:prstGeom>
          <a:noFill/>
          <a:ln/>
        </p:spPr>
        <p:txBody>
          <a:bodyPr wrap="square" lIns="25400" tIns="25400" rIns="25400" bIns="25400" rtlCol="0" anchor="ctr"/>
          <a:lstStyle/>
          <a:p>
            <a:pPr algn="ctr" indent="0" marL="0">
              <a:buNone/>
            </a:pPr>
            <a:r>
              <a:rPr lang="en-US" sz="1400" b="1" dirty="0">
                <a:solidFill>
                  <a:schemeClr val="bg1"/>
                </a:solidFill>
              </a:rPr>
              <a:t>Security constraint</a:t>
            </a:r>
            <a:endParaRPr lang="en-US" sz="1400" dirty="0"/>
          </a:p>
        </p:txBody>
      </p:sp>
      <p:sp>
        <p:nvSpPr>
          <p:cNvPr id="39" name="relation"/>
          <p:cNvSpPr/>
          <p:nvPr/>
        </p:nvSpPr>
        <p:spPr>
          <a:xfrm flipH="1">
            <a:off x="7132320" y="4846320"/>
            <a:ext cx="3063240" cy="731520"/>
          </a:xfrm>
          <a:prstGeom prst="line">
            <a:avLst/>
          </a:prstGeom>
          <a:noFill/>
          <a:ln w="19050">
            <a:solidFill>
              <a:schemeClr val="accent5"/>
            </a:solidFill>
            <a:prstDash val="solid"/>
            <a:tailEnd type="triangle"/>
          </a:ln>
        </p:spPr>
      </p:sp>
      <p:sp>
        <p:nvSpPr>
          <p:cNvPr id="40" name="Text 38"/>
          <p:cNvSpPr txBox="1"/>
          <p:nvPr/>
        </p:nvSpPr>
        <p:spPr>
          <a:xfrm>
            <a:off x="8366760" y="5120640"/>
            <a:ext cx="1005840" cy="274320"/>
          </a:xfrm>
          <a:prstGeom prst="rect">
            <a:avLst/>
          </a:prstGeom>
          <a:solidFill>
            <a:schemeClr val="bg1"/>
          </a:solidFill>
          <a:ln/>
        </p:spPr>
        <p:txBody>
          <a:bodyPr wrap="square" lIns="0" tIns="0" rIns="0" bIns="0" rtlCol="0" anchor="ctr"/>
          <a:lstStyle/>
          <a:p>
            <a:pPr algn="ctr" indent="0" marL="0">
              <a:buNone/>
            </a:pPr>
            <a:r>
              <a:rPr lang="en-US" sz="1100" i="1" dirty="0">
                <a:solidFill>
                  <a:schemeClr val="tx2"/>
                </a:solidFill>
                <a:latin typeface="Courier New" pitchFamily="34" charset="0"/>
                <a:ea typeface="Courier New" pitchFamily="34" charset="-122"/>
                <a:cs typeface="Courier New" pitchFamily="34" charset="-120"/>
              </a:rPr>
              <a:t>requires</a:t>
            </a:r>
            <a:endParaRPr lang="en-US" sz="1100" dirty="0"/>
          </a:p>
        </p:txBody>
      </p:sp>
      <p:sp>
        <p:nvSpPr>
          <p:cNvPr id="41" name="relation"/>
          <p:cNvSpPr/>
          <p:nvPr/>
        </p:nvSpPr>
        <p:spPr>
          <a:xfrm flipH="1" flipV="1">
            <a:off x="1508760" y="4846320"/>
            <a:ext cx="3611880" cy="731520"/>
          </a:xfrm>
          <a:prstGeom prst="line">
            <a:avLst/>
          </a:prstGeom>
          <a:noFill/>
          <a:ln w="19050">
            <a:solidFill>
              <a:schemeClr val="accent5"/>
            </a:solidFill>
            <a:prstDash val="solid"/>
            <a:tailEnd type="triangle"/>
          </a:ln>
        </p:spPr>
      </p:sp>
      <p:sp>
        <p:nvSpPr>
          <p:cNvPr id="42" name="Text 40"/>
          <p:cNvSpPr txBox="1"/>
          <p:nvPr/>
        </p:nvSpPr>
        <p:spPr>
          <a:xfrm>
            <a:off x="2560320" y="5212080"/>
            <a:ext cx="1188720" cy="274320"/>
          </a:xfrm>
          <a:prstGeom prst="rect">
            <a:avLst/>
          </a:prstGeom>
          <a:solidFill>
            <a:schemeClr val="bg1"/>
          </a:solidFill>
          <a:ln/>
        </p:spPr>
        <p:txBody>
          <a:bodyPr wrap="square" lIns="0" tIns="0" rIns="0" bIns="0" rtlCol="0" anchor="ctr"/>
          <a:lstStyle/>
          <a:p>
            <a:pPr algn="ctr" indent="0" marL="0">
              <a:buNone/>
            </a:pPr>
            <a:r>
              <a:rPr lang="en-US" sz="1100" i="1" dirty="0">
                <a:solidFill>
                  <a:schemeClr val="tx2"/>
                </a:solidFill>
                <a:latin typeface="Courier New" pitchFamily="34" charset="0"/>
                <a:ea typeface="Courier New" pitchFamily="34" charset="-122"/>
                <a:cs typeface="Courier New" pitchFamily="34" charset="-120"/>
              </a:rPr>
              <a:t>imposed_by</a:t>
            </a:r>
            <a:endParaRPr lang="en-US" sz="1100" dirty="0"/>
          </a:p>
        </p:txBody>
      </p:sp>
      <p:sp>
        <p:nvSpPr>
          <p:cNvPr id="43" name="Text 41"/>
          <p:cNvSpPr txBox="1"/>
          <p:nvPr/>
        </p:nvSpPr>
        <p:spPr>
          <a:xfrm>
            <a:off x="5120640" y="5897880"/>
            <a:ext cx="2011680" cy="274320"/>
          </a:xfrm>
          <a:prstGeom prst="rect">
            <a:avLst/>
          </a:prstGeom>
          <a:noFill/>
          <a:ln/>
        </p:spPr>
        <p:txBody>
          <a:bodyPr wrap="square" lIns="0" tIns="0" rIns="0" bIns="0" rtlCol="0" anchor="t"/>
          <a:lstStyle/>
          <a:p>
            <a:pPr algn="ctr" indent="0" marL="0">
              <a:buNone/>
            </a:pPr>
            <a:r>
              <a:rPr lang="en-US" sz="1100" i="1" dirty="0">
                <a:solidFill>
                  <a:schemeClr val="accent5"/>
                </a:solidFill>
              </a:rPr>
              <a:t>Satisfied only with evidence</a:t>
            </a:r>
            <a:endParaRPr lang="en-US" sz="1100" dirty="0"/>
          </a:p>
        </p:txBody>
      </p:sp>
      <p:sp>
        <p:nvSpPr>
          <p:cNvPr id="25" name="Slide Number Placeholder 0"/>
          <p:cNvSpPr>
            <a:spLocks noGrp="1"/>
          </p:cNvSpPr>
          <p:nvPr>
            <p:ph type="sldNum" sz="quarter" idx="4294967295"/>
          </p:nvPr>
        </p:nvSpPr>
        <p:spPr>
          <a:xfrm>
            <a:off x="11247120" y="635508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The same idea for AI agents, with rules written as data</a:t>
            </a:r>
            <a:endParaRPr lang="en-US" sz="3200" dirty="0"/>
          </a:p>
        </p:txBody>
      </p:sp>
      <p:sp>
        <p:nvSpPr>
          <p:cNvPr id="3" name="Text 1"/>
          <p:cNvSpPr txBox="1"/>
          <p:nvPr/>
        </p:nvSpPr>
        <p:spPr>
          <a:xfrm>
            <a:off x="548640" y="1371600"/>
            <a:ext cx="5120640" cy="411480"/>
          </a:xfrm>
          <a:prstGeom prst="rect">
            <a:avLst/>
          </a:prstGeom>
          <a:noFill/>
          <a:ln/>
        </p:spPr>
        <p:txBody>
          <a:bodyPr wrap="square" lIns="0" tIns="0" rIns="0" bIns="0" rtlCol="0" anchor="t"/>
          <a:lstStyle/>
          <a:p>
            <a:pPr indent="0" marL="0">
              <a:buNone/>
            </a:pPr>
            <a:r>
              <a:rPr lang="en-US" sz="1800" b="1" dirty="0">
                <a:solidFill>
                  <a:schemeClr val="tx2"/>
                </a:solidFill>
              </a:rPr>
              <a:t>Agent design elements</a:t>
            </a:r>
            <a:endParaRPr lang="en-US" sz="1800" dirty="0"/>
          </a:p>
        </p:txBody>
      </p:sp>
      <p:sp>
        <p:nvSpPr>
          <p:cNvPr id="4" name="chip"/>
          <p:cNvSpPr/>
          <p:nvPr/>
        </p:nvSpPr>
        <p:spPr>
          <a:xfrm>
            <a:off x="548640" y="1920240"/>
            <a:ext cx="2423160" cy="566928"/>
          </a:xfrm>
          <a:prstGeom prst="roundRect">
            <a:avLst>
              <a:gd name="adj" fmla="val 16129"/>
            </a:avLst>
          </a:prstGeom>
          <a:solidFill>
            <a:schemeClr val="bg2"/>
          </a:solidFill>
          <a:ln w="12700">
            <a:solidFill>
              <a:schemeClr val="accent6"/>
            </a:solidFill>
            <a:prstDash val="solid"/>
          </a:ln>
        </p:spPr>
      </p:sp>
      <p:sp>
        <p:nvSpPr>
          <p:cNvPr id="5" name="Text 3"/>
          <p:cNvSpPr txBox="1"/>
          <p:nvPr/>
        </p:nvSpPr>
        <p:spPr>
          <a:xfrm>
            <a:off x="685800" y="1920240"/>
            <a:ext cx="2148840" cy="566928"/>
          </a:xfrm>
          <a:prstGeom prst="rect">
            <a:avLst/>
          </a:prstGeom>
          <a:noFill/>
          <a:ln/>
        </p:spPr>
        <p:txBody>
          <a:bodyPr wrap="square" lIns="0" tIns="0" rIns="0" bIns="0" rtlCol="0" anchor="ctr"/>
          <a:lstStyle/>
          <a:p>
            <a:pPr indent="0" marL="0">
              <a:buNone/>
            </a:pPr>
            <a:r>
              <a:rPr lang="en-US" sz="1400" b="1" dirty="0">
                <a:solidFill>
                  <a:schemeClr val="tx2"/>
                </a:solidFill>
              </a:rPr>
              <a:t>Agent</a:t>
            </a:r>
            <a:endParaRPr lang="en-US" sz="1400" dirty="0"/>
          </a:p>
        </p:txBody>
      </p:sp>
      <p:sp>
        <p:nvSpPr>
          <p:cNvPr id="6" name="chip"/>
          <p:cNvSpPr/>
          <p:nvPr/>
        </p:nvSpPr>
        <p:spPr>
          <a:xfrm>
            <a:off x="3154680" y="1920240"/>
            <a:ext cx="2423160" cy="566928"/>
          </a:xfrm>
          <a:prstGeom prst="roundRect">
            <a:avLst>
              <a:gd name="adj" fmla="val 16129"/>
            </a:avLst>
          </a:prstGeom>
          <a:solidFill>
            <a:schemeClr val="bg2"/>
          </a:solidFill>
          <a:ln w="12700">
            <a:solidFill>
              <a:schemeClr val="accent6"/>
            </a:solidFill>
            <a:prstDash val="solid"/>
          </a:ln>
        </p:spPr>
      </p:sp>
      <p:sp>
        <p:nvSpPr>
          <p:cNvPr id="7" name="Text 5"/>
          <p:cNvSpPr txBox="1"/>
          <p:nvPr/>
        </p:nvSpPr>
        <p:spPr>
          <a:xfrm>
            <a:off x="3291840" y="1920240"/>
            <a:ext cx="2148840" cy="566928"/>
          </a:xfrm>
          <a:prstGeom prst="rect">
            <a:avLst/>
          </a:prstGeom>
          <a:noFill/>
          <a:ln/>
        </p:spPr>
        <p:txBody>
          <a:bodyPr wrap="square" lIns="0" tIns="0" rIns="0" bIns="0" rtlCol="0" anchor="ctr"/>
          <a:lstStyle/>
          <a:p>
            <a:pPr indent="0" marL="0">
              <a:buNone/>
            </a:pPr>
            <a:r>
              <a:rPr lang="en-US" sz="1400" dirty="0">
                <a:solidFill>
                  <a:schemeClr val="tx2"/>
                </a:solidFill>
              </a:rPr>
              <a:t>Tool (read or write)</a:t>
            </a:r>
            <a:endParaRPr lang="en-US" sz="1400" dirty="0"/>
          </a:p>
        </p:txBody>
      </p:sp>
      <p:sp>
        <p:nvSpPr>
          <p:cNvPr id="8" name="chip"/>
          <p:cNvSpPr/>
          <p:nvPr/>
        </p:nvSpPr>
        <p:spPr>
          <a:xfrm>
            <a:off x="548640" y="2670048"/>
            <a:ext cx="2423160" cy="566928"/>
          </a:xfrm>
          <a:prstGeom prst="roundRect">
            <a:avLst>
              <a:gd name="adj" fmla="val 16129"/>
            </a:avLst>
          </a:prstGeom>
          <a:solidFill>
            <a:schemeClr val="bg2"/>
          </a:solidFill>
          <a:ln w="12700">
            <a:solidFill>
              <a:schemeClr val="accent6"/>
            </a:solidFill>
            <a:prstDash val="solid"/>
          </a:ln>
        </p:spPr>
      </p:sp>
      <p:sp>
        <p:nvSpPr>
          <p:cNvPr id="9" name="Text 7"/>
          <p:cNvSpPr txBox="1"/>
          <p:nvPr/>
        </p:nvSpPr>
        <p:spPr>
          <a:xfrm>
            <a:off x="685800" y="2670048"/>
            <a:ext cx="2148840" cy="566928"/>
          </a:xfrm>
          <a:prstGeom prst="rect">
            <a:avLst/>
          </a:prstGeom>
          <a:noFill/>
          <a:ln/>
        </p:spPr>
        <p:txBody>
          <a:bodyPr wrap="square" lIns="0" tIns="0" rIns="0" bIns="0" rtlCol="0" anchor="ctr"/>
          <a:lstStyle/>
          <a:p>
            <a:pPr indent="0" marL="0">
              <a:buNone/>
            </a:pPr>
            <a:r>
              <a:rPr lang="en-US" sz="1400" dirty="0">
                <a:solidFill>
                  <a:schemeClr val="tx2"/>
                </a:solidFill>
              </a:rPr>
              <a:t>Input (trusted or untrusted)</a:t>
            </a:r>
            <a:endParaRPr lang="en-US" sz="1400" dirty="0"/>
          </a:p>
        </p:txBody>
      </p:sp>
      <p:sp>
        <p:nvSpPr>
          <p:cNvPr id="10" name="chip"/>
          <p:cNvSpPr/>
          <p:nvPr/>
        </p:nvSpPr>
        <p:spPr>
          <a:xfrm>
            <a:off x="3154680" y="2670048"/>
            <a:ext cx="2423160" cy="566928"/>
          </a:xfrm>
          <a:prstGeom prst="roundRect">
            <a:avLst>
              <a:gd name="adj" fmla="val 16129"/>
            </a:avLst>
          </a:prstGeom>
          <a:solidFill>
            <a:schemeClr val="bg2"/>
          </a:solidFill>
          <a:ln w="12700">
            <a:solidFill>
              <a:schemeClr val="accent6"/>
            </a:solidFill>
            <a:prstDash val="solid"/>
          </a:ln>
        </p:spPr>
      </p:sp>
      <p:sp>
        <p:nvSpPr>
          <p:cNvPr id="11" name="Text 9"/>
          <p:cNvSpPr txBox="1"/>
          <p:nvPr/>
        </p:nvSpPr>
        <p:spPr>
          <a:xfrm>
            <a:off x="3291840" y="2670048"/>
            <a:ext cx="2148840" cy="566928"/>
          </a:xfrm>
          <a:prstGeom prst="rect">
            <a:avLst/>
          </a:prstGeom>
          <a:noFill/>
          <a:ln/>
        </p:spPr>
        <p:txBody>
          <a:bodyPr wrap="square" lIns="0" tIns="0" rIns="0" bIns="0" rtlCol="0" anchor="ctr"/>
          <a:lstStyle/>
          <a:p>
            <a:pPr indent="0" marL="0">
              <a:buNone/>
            </a:pPr>
            <a:r>
              <a:rPr lang="en-US" sz="1400" dirty="0">
                <a:solidFill>
                  <a:schemeClr val="tx2"/>
                </a:solidFill>
              </a:rPr>
              <a:t>Guardrail</a:t>
            </a:r>
            <a:endParaRPr lang="en-US" sz="1400" dirty="0"/>
          </a:p>
        </p:txBody>
      </p:sp>
      <p:sp>
        <p:nvSpPr>
          <p:cNvPr id="12" name="chip"/>
          <p:cNvSpPr/>
          <p:nvPr/>
        </p:nvSpPr>
        <p:spPr>
          <a:xfrm>
            <a:off x="548640" y="3419856"/>
            <a:ext cx="2423160" cy="566928"/>
          </a:xfrm>
          <a:prstGeom prst="roundRect">
            <a:avLst>
              <a:gd name="adj" fmla="val 16129"/>
            </a:avLst>
          </a:prstGeom>
          <a:solidFill>
            <a:schemeClr val="bg2"/>
          </a:solidFill>
          <a:ln w="12700">
            <a:solidFill>
              <a:schemeClr val="accent6"/>
            </a:solidFill>
            <a:prstDash val="solid"/>
          </a:ln>
        </p:spPr>
      </p:sp>
      <p:sp>
        <p:nvSpPr>
          <p:cNvPr id="13" name="Text 11"/>
          <p:cNvSpPr txBox="1"/>
          <p:nvPr/>
        </p:nvSpPr>
        <p:spPr>
          <a:xfrm>
            <a:off x="685800" y="3419856"/>
            <a:ext cx="2148840" cy="566928"/>
          </a:xfrm>
          <a:prstGeom prst="rect">
            <a:avLst/>
          </a:prstGeom>
          <a:noFill/>
          <a:ln/>
        </p:spPr>
        <p:txBody>
          <a:bodyPr wrap="square" lIns="0" tIns="0" rIns="0" bIns="0" rtlCol="0" anchor="ctr"/>
          <a:lstStyle/>
          <a:p>
            <a:pPr indent="0" marL="0">
              <a:buNone/>
            </a:pPr>
            <a:r>
              <a:rPr lang="en-US" sz="1400" dirty="0">
                <a:solidFill>
                  <a:schemeClr val="tx2"/>
                </a:solidFill>
              </a:rPr>
              <a:t>Human approval step</a:t>
            </a:r>
            <a:endParaRPr lang="en-US" sz="1400" dirty="0"/>
          </a:p>
        </p:txBody>
      </p:sp>
      <p:sp>
        <p:nvSpPr>
          <p:cNvPr id="14" name="chip"/>
          <p:cNvSpPr/>
          <p:nvPr/>
        </p:nvSpPr>
        <p:spPr>
          <a:xfrm>
            <a:off x="3154680" y="3419856"/>
            <a:ext cx="2423160" cy="566928"/>
          </a:xfrm>
          <a:prstGeom prst="roundRect">
            <a:avLst>
              <a:gd name="adj" fmla="val 16129"/>
            </a:avLst>
          </a:prstGeom>
          <a:solidFill>
            <a:schemeClr val="bg2"/>
          </a:solidFill>
          <a:ln w="12700">
            <a:solidFill>
              <a:schemeClr val="accent6"/>
            </a:solidFill>
            <a:prstDash val="solid"/>
          </a:ln>
        </p:spPr>
      </p:sp>
      <p:sp>
        <p:nvSpPr>
          <p:cNvPr id="15" name="Text 13"/>
          <p:cNvSpPr txBox="1"/>
          <p:nvPr/>
        </p:nvSpPr>
        <p:spPr>
          <a:xfrm>
            <a:off x="3291840" y="3419856"/>
            <a:ext cx="2148840" cy="566928"/>
          </a:xfrm>
          <a:prstGeom prst="rect">
            <a:avLst/>
          </a:prstGeom>
          <a:noFill/>
          <a:ln/>
        </p:spPr>
        <p:txBody>
          <a:bodyPr wrap="square" lIns="0" tIns="0" rIns="0" bIns="0" rtlCol="0" anchor="ctr"/>
          <a:lstStyle/>
          <a:p>
            <a:pPr indent="0" marL="0">
              <a:buNone/>
            </a:pPr>
            <a:r>
              <a:rPr lang="en-US" sz="1400" dirty="0">
                <a:solidFill>
                  <a:schemeClr val="tx2"/>
                </a:solidFill>
              </a:rPr>
              <a:t>MCP server (signed or not)</a:t>
            </a:r>
            <a:endParaRPr lang="en-US" sz="1400" dirty="0"/>
          </a:p>
        </p:txBody>
      </p:sp>
      <p:sp>
        <p:nvSpPr>
          <p:cNvPr id="16" name="chip"/>
          <p:cNvSpPr/>
          <p:nvPr/>
        </p:nvSpPr>
        <p:spPr>
          <a:xfrm>
            <a:off x="548640" y="4169664"/>
            <a:ext cx="2423160" cy="566928"/>
          </a:xfrm>
          <a:prstGeom prst="roundRect">
            <a:avLst>
              <a:gd name="adj" fmla="val 16129"/>
            </a:avLst>
          </a:prstGeom>
          <a:solidFill>
            <a:schemeClr val="bg2"/>
          </a:solidFill>
          <a:ln w="12700">
            <a:solidFill>
              <a:schemeClr val="accent6"/>
            </a:solidFill>
            <a:prstDash val="solid"/>
          </a:ln>
        </p:spPr>
      </p:sp>
      <p:sp>
        <p:nvSpPr>
          <p:cNvPr id="17" name="Text 15"/>
          <p:cNvSpPr txBox="1"/>
          <p:nvPr/>
        </p:nvSpPr>
        <p:spPr>
          <a:xfrm>
            <a:off x="685800" y="4169664"/>
            <a:ext cx="2148840" cy="566928"/>
          </a:xfrm>
          <a:prstGeom prst="rect">
            <a:avLst/>
          </a:prstGeom>
          <a:noFill/>
          <a:ln/>
        </p:spPr>
        <p:txBody>
          <a:bodyPr wrap="square" lIns="0" tIns="0" rIns="0" bIns="0" rtlCol="0" anchor="ctr"/>
          <a:lstStyle/>
          <a:p>
            <a:pPr indent="0" marL="0">
              <a:buNone/>
            </a:pPr>
            <a:r>
              <a:rPr lang="en-US" sz="1400" dirty="0">
                <a:solidFill>
                  <a:schemeClr val="tx2"/>
                </a:solidFill>
              </a:rPr>
              <a:t>Data store</a:t>
            </a:r>
            <a:endParaRPr lang="en-US" sz="1400" dirty="0"/>
          </a:p>
        </p:txBody>
      </p:sp>
      <p:sp>
        <p:nvSpPr>
          <p:cNvPr id="18" name="chip"/>
          <p:cNvSpPr/>
          <p:nvPr/>
        </p:nvSpPr>
        <p:spPr>
          <a:xfrm>
            <a:off x="3154680" y="4169664"/>
            <a:ext cx="2423160" cy="566928"/>
          </a:xfrm>
          <a:prstGeom prst="roundRect">
            <a:avLst>
              <a:gd name="adj" fmla="val 16129"/>
            </a:avLst>
          </a:prstGeom>
          <a:solidFill>
            <a:schemeClr val="bg2"/>
          </a:solidFill>
          <a:ln w="12700">
            <a:solidFill>
              <a:schemeClr val="accent6"/>
            </a:solidFill>
            <a:prstDash val="solid"/>
          </a:ln>
        </p:spPr>
      </p:sp>
      <p:sp>
        <p:nvSpPr>
          <p:cNvPr id="19" name="Text 17"/>
          <p:cNvSpPr txBox="1"/>
          <p:nvPr/>
        </p:nvSpPr>
        <p:spPr>
          <a:xfrm>
            <a:off x="3291840" y="4169664"/>
            <a:ext cx="2148840" cy="566928"/>
          </a:xfrm>
          <a:prstGeom prst="rect">
            <a:avLst/>
          </a:prstGeom>
          <a:noFill/>
          <a:ln/>
        </p:spPr>
        <p:txBody>
          <a:bodyPr wrap="square" lIns="0" tIns="0" rIns="0" bIns="0" rtlCol="0" anchor="ctr"/>
          <a:lstStyle/>
          <a:p>
            <a:pPr indent="0" marL="0">
              <a:buNone/>
            </a:pPr>
            <a:r>
              <a:rPr lang="en-US" sz="1400" dirty="0">
                <a:solidFill>
                  <a:schemeClr val="tx2"/>
                </a:solidFill>
              </a:rPr>
              <a:t>Memory</a:t>
            </a:r>
            <a:endParaRPr lang="en-US" sz="1400" dirty="0"/>
          </a:p>
        </p:txBody>
      </p:sp>
      <p:sp>
        <p:nvSpPr>
          <p:cNvPr id="20" name="chip"/>
          <p:cNvSpPr/>
          <p:nvPr/>
        </p:nvSpPr>
        <p:spPr>
          <a:xfrm>
            <a:off x="548640" y="4919472"/>
            <a:ext cx="2423160" cy="566928"/>
          </a:xfrm>
          <a:prstGeom prst="roundRect">
            <a:avLst>
              <a:gd name="adj" fmla="val 16129"/>
            </a:avLst>
          </a:prstGeom>
          <a:solidFill>
            <a:schemeClr val="bg2"/>
          </a:solidFill>
          <a:ln w="12700">
            <a:solidFill>
              <a:schemeClr val="accent6"/>
            </a:solidFill>
            <a:prstDash val="solid"/>
          </a:ln>
        </p:spPr>
      </p:sp>
      <p:sp>
        <p:nvSpPr>
          <p:cNvPr id="21" name="Text 19"/>
          <p:cNvSpPr txBox="1"/>
          <p:nvPr/>
        </p:nvSpPr>
        <p:spPr>
          <a:xfrm>
            <a:off x="685800" y="4919472"/>
            <a:ext cx="2148840" cy="566928"/>
          </a:xfrm>
          <a:prstGeom prst="rect">
            <a:avLst/>
          </a:prstGeom>
          <a:noFill/>
          <a:ln/>
        </p:spPr>
        <p:txBody>
          <a:bodyPr wrap="square" lIns="0" tIns="0" rIns="0" bIns="0" rtlCol="0" anchor="ctr"/>
          <a:lstStyle/>
          <a:p>
            <a:pPr indent="0" marL="0">
              <a:buNone/>
            </a:pPr>
            <a:r>
              <a:rPr lang="en-US" sz="1400" dirty="0">
                <a:solidFill>
                  <a:schemeClr val="tx2"/>
                </a:solidFill>
              </a:rPr>
              <a:t>delegates (agent → agent)</a:t>
            </a:r>
            <a:endParaRPr lang="en-US" sz="1400" dirty="0"/>
          </a:p>
        </p:txBody>
      </p:sp>
      <p:sp>
        <p:nvSpPr>
          <p:cNvPr id="22" name="rule-card"/>
          <p:cNvSpPr/>
          <p:nvPr/>
        </p:nvSpPr>
        <p:spPr>
          <a:xfrm>
            <a:off x="6172200" y="1371600"/>
            <a:ext cx="5440680" cy="2926080"/>
          </a:xfrm>
          <a:prstGeom prst="roundRect">
            <a:avLst>
              <a:gd name="adj" fmla="val 2500"/>
            </a:avLst>
          </a:prstGeom>
          <a:solidFill>
            <a:schemeClr val="tx2"/>
          </a:solidFill>
          <a:ln w="6350">
            <a:solidFill>
              <a:schemeClr val="tx2"/>
            </a:solidFill>
            <a:prstDash val="solid"/>
          </a:ln>
          <a:effectLst>
            <a:outerShdw sx="100000" sy="100000" kx="0" ky="0" algn="bl" rotWithShape="0" blurRad="76200" dist="25400" dir="5400000">
              <a:srgbClr val="1B2430">
                <a:alpha val="12000"/>
              </a:srgbClr>
            </a:outerShdw>
          </a:effectLst>
        </p:spPr>
      </p:sp>
      <p:sp>
        <p:nvSpPr>
          <p:cNvPr id="23" name="Text 21"/>
          <p:cNvSpPr txBox="1"/>
          <p:nvPr/>
        </p:nvSpPr>
        <p:spPr>
          <a:xfrm>
            <a:off x="6446520" y="1554480"/>
            <a:ext cx="4937760" cy="411480"/>
          </a:xfrm>
          <a:prstGeom prst="rect">
            <a:avLst/>
          </a:prstGeom>
          <a:noFill/>
          <a:ln/>
        </p:spPr>
        <p:txBody>
          <a:bodyPr wrap="square" lIns="0" tIns="0" rIns="0" bIns="0" rtlCol="0" anchor="t"/>
          <a:lstStyle/>
          <a:p>
            <a:pPr indent="0" marL="0">
              <a:buNone/>
            </a:pPr>
            <a:r>
              <a:rPr lang="en-US" sz="1600" b="1" dirty="0">
                <a:solidFill>
                  <a:schemeClr val="accent2"/>
                </a:solidFill>
              </a:rPr>
              <a:t>Example: OWASP ASI01, agent goal hijack</a:t>
            </a:r>
            <a:endParaRPr lang="en-US" sz="1600" dirty="0"/>
          </a:p>
        </p:txBody>
      </p:sp>
      <p:sp>
        <p:nvSpPr>
          <p:cNvPr id="24" name="Text 22"/>
          <p:cNvSpPr txBox="1"/>
          <p:nvPr/>
        </p:nvSpPr>
        <p:spPr>
          <a:xfrm>
            <a:off x="6446520" y="2057400"/>
            <a:ext cx="4937760" cy="210312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applies_if:</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untrusted input exists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AND a write-capable tool exists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satisfied_if:</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 prompt-injection guardrail exists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flag_nodes: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the agent, the untrusted input</a:t>
            </a:r>
            <a:endParaRPr lang="en-US" sz="1400" dirty="0"/>
          </a:p>
        </p:txBody>
      </p:sp>
      <p:sp>
        <p:nvSpPr>
          <p:cNvPr id="25" name="Text 23"/>
          <p:cNvSpPr txBox="1"/>
          <p:nvPr/>
        </p:nvSpPr>
        <p:spPr>
          <a:xfrm>
            <a:off x="6172200" y="4526280"/>
            <a:ext cx="5440680" cy="15544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The ten OWASP agentic checks and every organisation policy are stored as rules in the database, not as code.</a:t>
            </a:r>
            <a:endParaRPr lang="en-US" sz="1500" dirty="0"/>
          </a:p>
          <a:p>
            <a:pPr marL="177800" indent="-177800">
              <a:spcAft>
                <a:spcPts val="600"/>
              </a:spcAft>
              <a:buSzPct val="100000"/>
              <a:buChar char="•"/>
            </a:pPr>
            <a:r>
              <a:rPr lang="en-US" sz="1500" dirty="0">
                <a:solidFill>
                  <a:schemeClr val="tx1"/>
                </a:solidFill>
              </a:rPr>
              <a:t>One safe rule engine evaluates them (fixed operators, no eval), so new rules need no new software.</a:t>
            </a:r>
            <a:endParaRPr lang="en-US" sz="1500" dirty="0"/>
          </a:p>
        </p:txBody>
      </p:sp>
      <p:sp>
        <p:nvSpPr>
          <p:cNvPr id="25" name="Slide Number Placeholder 0"/>
          <p:cNvSpPr>
            <a:spLocks noGrp="1"/>
          </p:cNvSpPr>
          <p:nvPr>
            <p:ph type="sldNum" sz="quarter" idx="4294967295"/>
          </p:nvPr>
        </p:nvSpPr>
        <p:spPr>
          <a:xfrm>
            <a:off x="11247120" y="635508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Four layers decide whether a design can be approved</a:t>
            </a:r>
            <a:endParaRPr lang="en-US" sz="3200" dirty="0"/>
          </a:p>
        </p:txBody>
      </p:sp>
      <p:sp>
        <p:nvSpPr>
          <p:cNvPr id="3" name="layer"/>
          <p:cNvSpPr/>
          <p:nvPr/>
        </p:nvSpPr>
        <p:spPr>
          <a:xfrm>
            <a:off x="548640" y="1325880"/>
            <a:ext cx="2606040" cy="4160520"/>
          </a:xfrm>
          <a:prstGeom prst="roundRect">
            <a:avLst>
              <a:gd name="adj" fmla="val 2807"/>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4" name="badge"/>
          <p:cNvSpPr/>
          <p:nvPr/>
        </p:nvSpPr>
        <p:spPr>
          <a:xfrm>
            <a:off x="777240" y="1508760"/>
            <a:ext cx="502920" cy="502920"/>
          </a:xfrm>
          <a:prstGeom prst="ellipse">
            <a:avLst/>
          </a:prstGeom>
          <a:solidFill>
            <a:schemeClr val="accent5"/>
          </a:solidFill>
          <a:ln w="12700">
            <a:solidFill>
              <a:schemeClr val="accent5"/>
            </a:solidFill>
            <a:prstDash val="solid"/>
          </a:ln>
        </p:spPr>
      </p:sp>
      <p:sp>
        <p:nvSpPr>
          <p:cNvPr id="5" name="Text 3"/>
          <p:cNvSpPr txBox="1"/>
          <p:nvPr/>
        </p:nvSpPr>
        <p:spPr>
          <a:xfrm>
            <a:off x="777240" y="15087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417320" y="1481328"/>
            <a:ext cx="1645920" cy="365760"/>
          </a:xfrm>
          <a:prstGeom prst="rect">
            <a:avLst/>
          </a:prstGeom>
          <a:noFill/>
          <a:ln/>
        </p:spPr>
        <p:txBody>
          <a:bodyPr wrap="square" lIns="0" tIns="0" rIns="0" bIns="0" rtlCol="0" anchor="ctr"/>
          <a:lstStyle/>
          <a:p>
            <a:pPr indent="0" marL="0">
              <a:buNone/>
            </a:pPr>
            <a:r>
              <a:rPr lang="en-US" sz="1700" b="1" dirty="0">
                <a:solidFill>
                  <a:schemeClr val="tx2"/>
                </a:solidFill>
              </a:rPr>
              <a:t>Well-formed?</a:t>
            </a:r>
            <a:endParaRPr lang="en-US" sz="1700" dirty="0"/>
          </a:p>
        </p:txBody>
      </p:sp>
      <p:sp>
        <p:nvSpPr>
          <p:cNvPr id="7" name="Text 5"/>
          <p:cNvSpPr txBox="1"/>
          <p:nvPr/>
        </p:nvSpPr>
        <p:spPr>
          <a:xfrm>
            <a:off x="1417320" y="1828800"/>
            <a:ext cx="1645920" cy="274320"/>
          </a:xfrm>
          <a:prstGeom prst="rect">
            <a:avLst/>
          </a:prstGeom>
          <a:noFill/>
          <a:ln/>
        </p:spPr>
        <p:txBody>
          <a:bodyPr wrap="square" lIns="0" tIns="0" rIns="0" bIns="0" rtlCol="0" anchor="ctr"/>
          <a:lstStyle/>
          <a:p>
            <a:pPr indent="0" marL="0">
              <a:buNone/>
            </a:pPr>
            <a:r>
              <a:rPr lang="en-US" sz="1200" dirty="0">
                <a:solidFill>
                  <a:schemeClr val="accent5"/>
                </a:solidFill>
              </a:rPr>
              <a:t>Structure</a:t>
            </a:r>
            <a:endParaRPr lang="en-US" sz="1200" dirty="0"/>
          </a:p>
        </p:txBody>
      </p:sp>
      <p:sp>
        <p:nvSpPr>
          <p:cNvPr id="8" name="Text 6"/>
          <p:cNvSpPr txBox="1"/>
          <p:nvPr/>
        </p:nvSpPr>
        <p:spPr>
          <a:xfrm>
            <a:off x="777240" y="2286000"/>
            <a:ext cx="2194560" cy="26517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One AI model, with a domain</a:t>
            </a:r>
            <a:endParaRPr lang="en-US" sz="1400" dirty="0"/>
          </a:p>
          <a:p>
            <a:pPr marL="177800" indent="-177800">
              <a:spcAft>
                <a:spcPts val="600"/>
              </a:spcAft>
              <a:buSzPct val="100000"/>
              <a:buChar char="•"/>
            </a:pPr>
            <a:r>
              <a:rPr lang="en-US" sz="1400" dirty="0">
                <a:solidFill>
                  <a:schemeClr val="tx1"/>
                </a:solidFill>
              </a:rPr>
              <a:t>Trainer, validator and deployer exist, have identities and are related to the model</a:t>
            </a:r>
            <a:endParaRPr lang="en-US" sz="1400" dirty="0"/>
          </a:p>
          <a:p>
            <a:pPr marL="177800" indent="-177800">
              <a:spcAft>
                <a:spcPts val="600"/>
              </a:spcAft>
              <a:buSzPct val="100000"/>
              <a:buChar char="•"/>
            </a:pPr>
            <a:r>
              <a:rPr lang="en-US" sz="1400" dirty="0">
                <a:solidFill>
                  <a:schemeClr val="tx1"/>
                </a:solidFill>
              </a:rPr>
              <a:t>No identity holds two build roles</a:t>
            </a:r>
            <a:endParaRPr lang="en-US" sz="1400" dirty="0"/>
          </a:p>
          <a:p>
            <a:pPr marL="177800" indent="-177800">
              <a:spcAft>
                <a:spcPts val="600"/>
              </a:spcAft>
              <a:buSzPct val="100000"/>
              <a:buChar char="•"/>
            </a:pPr>
            <a:r>
              <a:rPr lang="en-US" sz="1400" dirty="0">
                <a:solidFill>
                  <a:schemeClr val="tx1"/>
                </a:solidFill>
              </a:rPr>
              <a:t>No floating elements or undefined links</a:t>
            </a:r>
            <a:endParaRPr lang="en-US" sz="1400" dirty="0"/>
          </a:p>
        </p:txBody>
      </p:sp>
      <p:sp>
        <p:nvSpPr>
          <p:cNvPr id="9" name="Text 7"/>
          <p:cNvSpPr txBox="1"/>
          <p:nvPr/>
        </p:nvSpPr>
        <p:spPr>
          <a:xfrm>
            <a:off x="777240" y="5074920"/>
            <a:ext cx="2194560" cy="274320"/>
          </a:xfrm>
          <a:prstGeom prst="rect">
            <a:avLst/>
          </a:prstGeom>
          <a:noFill/>
          <a:ln/>
        </p:spPr>
        <p:txBody>
          <a:bodyPr wrap="square" lIns="0" tIns="0" rIns="0" bIns="0" rtlCol="0" anchor="t"/>
          <a:lstStyle/>
          <a:p>
            <a:pPr indent="0" marL="0">
              <a:buNone/>
            </a:pPr>
            <a:r>
              <a:rPr lang="en-US" sz="1100" b="1" dirty="0">
                <a:solidFill>
                  <a:schemeClr val="accent2"/>
                </a:solidFill>
              </a:rPr>
              <a:t>Runs in: Studio</a:t>
            </a:r>
            <a:endParaRPr lang="en-US" sz="1100" dirty="0"/>
          </a:p>
        </p:txBody>
      </p:sp>
      <p:sp>
        <p:nvSpPr>
          <p:cNvPr id="10" name="layer"/>
          <p:cNvSpPr/>
          <p:nvPr/>
        </p:nvSpPr>
        <p:spPr>
          <a:xfrm>
            <a:off x="3364992" y="1325880"/>
            <a:ext cx="2606040" cy="4160520"/>
          </a:xfrm>
          <a:prstGeom prst="roundRect">
            <a:avLst>
              <a:gd name="adj" fmla="val 2807"/>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11" name="badge"/>
          <p:cNvSpPr/>
          <p:nvPr/>
        </p:nvSpPr>
        <p:spPr>
          <a:xfrm>
            <a:off x="3593592" y="1508760"/>
            <a:ext cx="502920" cy="502920"/>
          </a:xfrm>
          <a:prstGeom prst="ellipse">
            <a:avLst/>
          </a:prstGeom>
          <a:solidFill>
            <a:schemeClr val="accent1"/>
          </a:solidFill>
          <a:ln w="12700">
            <a:solidFill>
              <a:schemeClr val="accent1"/>
            </a:solidFill>
            <a:prstDash val="solid"/>
          </a:ln>
        </p:spPr>
      </p:sp>
      <p:sp>
        <p:nvSpPr>
          <p:cNvPr id="12" name="Text 10"/>
          <p:cNvSpPr txBox="1"/>
          <p:nvPr/>
        </p:nvSpPr>
        <p:spPr>
          <a:xfrm>
            <a:off x="3593592" y="15087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1"/>
          <p:cNvSpPr txBox="1"/>
          <p:nvPr/>
        </p:nvSpPr>
        <p:spPr>
          <a:xfrm>
            <a:off x="4233672" y="1481328"/>
            <a:ext cx="1645920" cy="365760"/>
          </a:xfrm>
          <a:prstGeom prst="rect">
            <a:avLst/>
          </a:prstGeom>
          <a:noFill/>
          <a:ln/>
        </p:spPr>
        <p:txBody>
          <a:bodyPr wrap="square" lIns="0" tIns="0" rIns="0" bIns="0" rtlCol="0" anchor="ctr"/>
          <a:lstStyle/>
          <a:p>
            <a:pPr indent="0" marL="0">
              <a:buNone/>
            </a:pPr>
            <a:r>
              <a:rPr lang="en-US" sz="1700" b="1" dirty="0">
                <a:solidFill>
                  <a:schemeClr val="tx2"/>
                </a:solidFill>
              </a:rPr>
              <a:t>Secure Tropos</a:t>
            </a:r>
            <a:endParaRPr lang="en-US" sz="1700" dirty="0"/>
          </a:p>
        </p:txBody>
      </p:sp>
      <p:sp>
        <p:nvSpPr>
          <p:cNvPr id="14" name="Text 12"/>
          <p:cNvSpPr txBox="1"/>
          <p:nvPr/>
        </p:nvSpPr>
        <p:spPr>
          <a:xfrm>
            <a:off x="4233672" y="1828800"/>
            <a:ext cx="1645920" cy="274320"/>
          </a:xfrm>
          <a:prstGeom prst="rect">
            <a:avLst/>
          </a:prstGeom>
          <a:noFill/>
          <a:ln/>
        </p:spPr>
        <p:txBody>
          <a:bodyPr wrap="square" lIns="0" tIns="0" rIns="0" bIns="0" rtlCol="0" anchor="ctr"/>
          <a:lstStyle/>
          <a:p>
            <a:pPr indent="0" marL="0">
              <a:buNone/>
            </a:pPr>
            <a:r>
              <a:rPr lang="en-US" sz="1200" dirty="0">
                <a:solidFill>
                  <a:schemeClr val="accent5"/>
                </a:solidFill>
              </a:rPr>
              <a:t>Semantics</a:t>
            </a:r>
            <a:endParaRPr lang="en-US" sz="1200" dirty="0"/>
          </a:p>
        </p:txBody>
      </p:sp>
      <p:sp>
        <p:nvSpPr>
          <p:cNvPr id="15" name="Text 13"/>
          <p:cNvSpPr txBox="1"/>
          <p:nvPr/>
        </p:nvSpPr>
        <p:spPr>
          <a:xfrm>
            <a:off x="3593592" y="2286000"/>
            <a:ext cx="2194560" cy="26517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Five actors and four trust delegations</a:t>
            </a:r>
            <a:endParaRPr lang="en-US" sz="1400" dirty="0"/>
          </a:p>
          <a:p>
            <a:pPr marL="177800" indent="-177800">
              <a:spcAft>
                <a:spcPts val="600"/>
              </a:spcAft>
              <a:buSzPct val="100000"/>
              <a:buChar char="•"/>
            </a:pPr>
            <a:r>
              <a:rPr lang="en-US" sz="1400" dirty="0">
                <a:solidFill>
                  <a:schemeClr val="tx1"/>
                </a:solidFill>
              </a:rPr>
              <a:t>Delegation is hard, soft or fail-open, from the assessment mode</a:t>
            </a:r>
            <a:endParaRPr lang="en-US" sz="1400" dirty="0"/>
          </a:p>
          <a:p>
            <a:pPr marL="177800" indent="-177800">
              <a:spcAft>
                <a:spcPts val="600"/>
              </a:spcAft>
              <a:buSzPct val="100000"/>
              <a:buChar char="•"/>
            </a:pPr>
            <a:r>
              <a:rPr lang="en-US" sz="1400" dirty="0">
                <a:solidFill>
                  <a:schemeClr val="tx1"/>
                </a:solidFill>
              </a:rPr>
              <a:t>Goals, anti-goals, threats and 12 security constraints</a:t>
            </a:r>
            <a:endParaRPr lang="en-US" sz="1400" dirty="0"/>
          </a:p>
        </p:txBody>
      </p:sp>
      <p:sp>
        <p:nvSpPr>
          <p:cNvPr id="16" name="Text 14"/>
          <p:cNvSpPr txBox="1"/>
          <p:nvPr/>
        </p:nvSpPr>
        <p:spPr>
          <a:xfrm>
            <a:off x="3593592" y="5074920"/>
            <a:ext cx="2194560" cy="274320"/>
          </a:xfrm>
          <a:prstGeom prst="rect">
            <a:avLst/>
          </a:prstGeom>
          <a:noFill/>
          <a:ln/>
        </p:spPr>
        <p:txBody>
          <a:bodyPr wrap="square" lIns="0" tIns="0" rIns="0" bIns="0" rtlCol="0" anchor="t"/>
          <a:lstStyle/>
          <a:p>
            <a:pPr indent="0" marL="0">
              <a:buNone/>
            </a:pPr>
            <a:r>
              <a:rPr lang="en-US" sz="1100" b="1" dirty="0">
                <a:solidFill>
                  <a:schemeClr val="accent3"/>
                </a:solidFill>
              </a:rPr>
              <a:t>Runs in: Backend</a:t>
            </a:r>
            <a:endParaRPr lang="en-US" sz="1100" dirty="0"/>
          </a:p>
        </p:txBody>
      </p:sp>
      <p:sp>
        <p:nvSpPr>
          <p:cNvPr id="17" name="layer"/>
          <p:cNvSpPr/>
          <p:nvPr/>
        </p:nvSpPr>
        <p:spPr>
          <a:xfrm>
            <a:off x="6181344" y="1325880"/>
            <a:ext cx="2606040" cy="4160520"/>
          </a:xfrm>
          <a:prstGeom prst="roundRect">
            <a:avLst>
              <a:gd name="adj" fmla="val 2807"/>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18" name="badge"/>
          <p:cNvSpPr/>
          <p:nvPr/>
        </p:nvSpPr>
        <p:spPr>
          <a:xfrm>
            <a:off x="6409944" y="1508760"/>
            <a:ext cx="502920" cy="502920"/>
          </a:xfrm>
          <a:prstGeom prst="ellipse">
            <a:avLst/>
          </a:prstGeom>
          <a:solidFill>
            <a:schemeClr val="accent1"/>
          </a:solidFill>
          <a:ln w="12700">
            <a:solidFill>
              <a:schemeClr val="accent1"/>
            </a:solidFill>
            <a:prstDash val="solid"/>
          </a:ln>
        </p:spPr>
      </p:sp>
      <p:sp>
        <p:nvSpPr>
          <p:cNvPr id="19" name="Text 17"/>
          <p:cNvSpPr txBox="1"/>
          <p:nvPr/>
        </p:nvSpPr>
        <p:spPr>
          <a:xfrm>
            <a:off x="6409944" y="15087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0" name="Text 18"/>
          <p:cNvSpPr txBox="1"/>
          <p:nvPr/>
        </p:nvSpPr>
        <p:spPr>
          <a:xfrm>
            <a:off x="7050024" y="1481328"/>
            <a:ext cx="1645920" cy="365760"/>
          </a:xfrm>
          <a:prstGeom prst="rect">
            <a:avLst/>
          </a:prstGeom>
          <a:noFill/>
          <a:ln/>
        </p:spPr>
        <p:txBody>
          <a:bodyPr wrap="square" lIns="0" tIns="0" rIns="0" bIns="0" rtlCol="0" anchor="ctr"/>
          <a:lstStyle/>
          <a:p>
            <a:pPr indent="0" marL="0">
              <a:buNone/>
            </a:pPr>
            <a:r>
              <a:rPr lang="en-US" sz="1700" b="1" dirty="0">
                <a:solidFill>
                  <a:schemeClr val="tx2"/>
                </a:solidFill>
              </a:rPr>
              <a:t>Rules</a:t>
            </a:r>
            <a:endParaRPr lang="en-US" sz="1700" dirty="0"/>
          </a:p>
        </p:txBody>
      </p:sp>
      <p:sp>
        <p:nvSpPr>
          <p:cNvPr id="21" name="Text 19"/>
          <p:cNvSpPr txBox="1"/>
          <p:nvPr/>
        </p:nvSpPr>
        <p:spPr>
          <a:xfrm>
            <a:off x="7050024" y="1828800"/>
            <a:ext cx="1645920" cy="274320"/>
          </a:xfrm>
          <a:prstGeom prst="rect">
            <a:avLst/>
          </a:prstGeom>
          <a:noFill/>
          <a:ln/>
        </p:spPr>
        <p:txBody>
          <a:bodyPr wrap="square" lIns="0" tIns="0" rIns="0" bIns="0" rtlCol="0" anchor="ctr"/>
          <a:lstStyle/>
          <a:p>
            <a:pPr indent="0" marL="0">
              <a:buNone/>
            </a:pPr>
            <a:r>
              <a:rPr lang="en-US" sz="1200" dirty="0">
                <a:solidFill>
                  <a:schemeClr val="accent5"/>
                </a:solidFill>
              </a:rPr>
              <a:t>Compliance</a:t>
            </a:r>
            <a:endParaRPr lang="en-US" sz="1200" dirty="0"/>
          </a:p>
        </p:txBody>
      </p:sp>
      <p:sp>
        <p:nvSpPr>
          <p:cNvPr id="22" name="Text 20"/>
          <p:cNvSpPr txBox="1"/>
          <p:nvPr/>
        </p:nvSpPr>
        <p:spPr>
          <a:xfrm>
            <a:off x="6409944" y="2286000"/>
            <a:ext cx="2194560" cy="26517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CONSTRAINT: the named constraint is satisfied</a:t>
            </a:r>
            <a:endParaRPr lang="en-US" sz="1400" dirty="0"/>
          </a:p>
          <a:p>
            <a:pPr marL="177800" indent="-177800">
              <a:spcAft>
                <a:spcPts val="600"/>
              </a:spcAft>
              <a:buSzPct val="100000"/>
              <a:buChar char="•"/>
            </a:pPr>
            <a:r>
              <a:rPr lang="en-US" sz="1400" dirty="0">
                <a:solidFill>
                  <a:schemeClr val="tx1"/>
                </a:solidFill>
              </a:rPr>
              <a:t>ATTESTATION: a regulatory clause is met with evidence</a:t>
            </a:r>
            <a:endParaRPr lang="en-US" sz="1400" dirty="0"/>
          </a:p>
          <a:p>
            <a:pPr marL="177800" indent="-177800">
              <a:spcAft>
                <a:spcPts val="600"/>
              </a:spcAft>
              <a:buSzPct val="100000"/>
              <a:buChar char="•"/>
            </a:pPr>
            <a:r>
              <a:rPr lang="en-US" sz="1400" dirty="0">
                <a:solidFill>
                  <a:schemeClr val="tx1"/>
                </a:solidFill>
              </a:rPr>
              <a:t>GRAPH: a condition on the design</a:t>
            </a:r>
            <a:endParaRPr lang="en-US" sz="1400" dirty="0"/>
          </a:p>
        </p:txBody>
      </p:sp>
      <p:sp>
        <p:nvSpPr>
          <p:cNvPr id="23" name="Text 21"/>
          <p:cNvSpPr txBox="1"/>
          <p:nvPr/>
        </p:nvSpPr>
        <p:spPr>
          <a:xfrm>
            <a:off x="6409944" y="5074920"/>
            <a:ext cx="2194560" cy="274320"/>
          </a:xfrm>
          <a:prstGeom prst="rect">
            <a:avLst/>
          </a:prstGeom>
          <a:noFill/>
          <a:ln/>
        </p:spPr>
        <p:txBody>
          <a:bodyPr wrap="square" lIns="0" tIns="0" rIns="0" bIns="0" rtlCol="0" anchor="t"/>
          <a:lstStyle/>
          <a:p>
            <a:pPr indent="0" marL="0">
              <a:buNone/>
            </a:pPr>
            <a:r>
              <a:rPr lang="en-US" sz="1100" b="1" dirty="0">
                <a:solidFill>
                  <a:schemeClr val="accent3"/>
                </a:solidFill>
              </a:rPr>
              <a:t>Runs in: Backend</a:t>
            </a:r>
            <a:endParaRPr lang="en-US" sz="1100" dirty="0"/>
          </a:p>
        </p:txBody>
      </p:sp>
      <p:sp>
        <p:nvSpPr>
          <p:cNvPr id="24" name="layer"/>
          <p:cNvSpPr/>
          <p:nvPr/>
        </p:nvSpPr>
        <p:spPr>
          <a:xfrm>
            <a:off x="8997696" y="1325880"/>
            <a:ext cx="2606040" cy="4160520"/>
          </a:xfrm>
          <a:prstGeom prst="roundRect">
            <a:avLst>
              <a:gd name="adj" fmla="val 2807"/>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25" name="badge"/>
          <p:cNvSpPr/>
          <p:nvPr/>
        </p:nvSpPr>
        <p:spPr>
          <a:xfrm>
            <a:off x="9226296" y="1508760"/>
            <a:ext cx="502920" cy="502920"/>
          </a:xfrm>
          <a:prstGeom prst="ellipse">
            <a:avLst/>
          </a:prstGeom>
          <a:solidFill>
            <a:schemeClr val="accent1"/>
          </a:solidFill>
          <a:ln w="12700">
            <a:solidFill>
              <a:schemeClr val="accent1"/>
            </a:solidFill>
            <a:prstDash val="solid"/>
          </a:ln>
        </p:spPr>
      </p:sp>
      <p:sp>
        <p:nvSpPr>
          <p:cNvPr id="26" name="Text 24"/>
          <p:cNvSpPr txBox="1"/>
          <p:nvPr/>
        </p:nvSpPr>
        <p:spPr>
          <a:xfrm>
            <a:off x="9226296" y="15087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7" name="Text 25"/>
          <p:cNvSpPr txBox="1"/>
          <p:nvPr/>
        </p:nvSpPr>
        <p:spPr>
          <a:xfrm>
            <a:off x="9866376" y="1481328"/>
            <a:ext cx="1645920" cy="365760"/>
          </a:xfrm>
          <a:prstGeom prst="rect">
            <a:avLst/>
          </a:prstGeom>
          <a:noFill/>
          <a:ln/>
        </p:spPr>
        <p:txBody>
          <a:bodyPr wrap="square" lIns="0" tIns="0" rIns="0" bIns="0" rtlCol="0" anchor="ctr"/>
          <a:lstStyle/>
          <a:p>
            <a:pPr indent="0" marL="0">
              <a:buNone/>
            </a:pPr>
            <a:r>
              <a:rPr lang="en-US" sz="1700" b="1" dirty="0">
                <a:solidFill>
                  <a:schemeClr val="tx2"/>
                </a:solidFill>
              </a:rPr>
              <a:t>Score and gate</a:t>
            </a:r>
            <a:endParaRPr lang="en-US" sz="1700" dirty="0"/>
          </a:p>
        </p:txBody>
      </p:sp>
      <p:sp>
        <p:nvSpPr>
          <p:cNvPr id="28" name="Text 26"/>
          <p:cNvSpPr txBox="1"/>
          <p:nvPr/>
        </p:nvSpPr>
        <p:spPr>
          <a:xfrm>
            <a:off x="9866376" y="1828800"/>
            <a:ext cx="1645920" cy="274320"/>
          </a:xfrm>
          <a:prstGeom prst="rect">
            <a:avLst/>
          </a:prstGeom>
          <a:noFill/>
          <a:ln/>
        </p:spPr>
        <p:txBody>
          <a:bodyPr wrap="square" lIns="0" tIns="0" rIns="0" bIns="0" rtlCol="0" anchor="ctr"/>
          <a:lstStyle/>
          <a:p>
            <a:pPr indent="0" marL="0">
              <a:buNone/>
            </a:pPr>
            <a:r>
              <a:rPr lang="en-US" sz="1200" dirty="0">
                <a:solidFill>
                  <a:schemeClr val="accent5"/>
                </a:solidFill>
              </a:rPr>
              <a:t>Decision</a:t>
            </a:r>
            <a:endParaRPr lang="en-US" sz="1200" dirty="0"/>
          </a:p>
        </p:txBody>
      </p:sp>
      <p:sp>
        <p:nvSpPr>
          <p:cNvPr id="29" name="Text 27"/>
          <p:cNvSpPr txBox="1"/>
          <p:nvPr/>
        </p:nvSpPr>
        <p:spPr>
          <a:xfrm>
            <a:off x="9226296" y="2286000"/>
            <a:ext cx="2194560" cy="26517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Six-pillar risk score</a:t>
            </a:r>
            <a:endParaRPr lang="en-US" sz="1400" dirty="0"/>
          </a:p>
          <a:p>
            <a:pPr marL="177800" indent="-177800">
              <a:spcAft>
                <a:spcPts val="600"/>
              </a:spcAft>
              <a:buSzPct val="100000"/>
              <a:buChar char="•"/>
            </a:pPr>
            <a:r>
              <a:rPr lang="en-US" sz="1400" dirty="0">
                <a:solidFill>
                  <a:schemeClr val="tx1"/>
                </a:solidFill>
              </a:rPr>
              <a:t>Any unmet veto constraint blocks</a:t>
            </a:r>
            <a:endParaRPr lang="en-US" sz="1400" dirty="0"/>
          </a:p>
          <a:p>
            <a:pPr marL="177800" indent="-177800">
              <a:spcAft>
                <a:spcPts val="600"/>
              </a:spcAft>
              <a:buSzPct val="100000"/>
              <a:buChar char="•"/>
            </a:pPr>
            <a:r>
              <a:rPr lang="en-US" sz="1400" dirty="0">
                <a:solidFill>
                  <a:schemeClr val="tx1"/>
                </a:solidFill>
              </a:rPr>
              <a:t>A score of 60 or more blocks</a:t>
            </a:r>
            <a:endParaRPr lang="en-US" sz="1400" dirty="0"/>
          </a:p>
          <a:p>
            <a:pPr marL="177800" indent="-177800">
              <a:spcAft>
                <a:spcPts val="600"/>
              </a:spcAft>
              <a:buSzPct val="100000"/>
              <a:buChar char="•"/>
            </a:pPr>
            <a:r>
              <a:rPr lang="en-US" sz="1400" dirty="0">
                <a:solidFill>
                  <a:schemeClr val="tx1"/>
                </a:solidFill>
              </a:rPr>
              <a:t>Re-run on the server at compile</a:t>
            </a:r>
            <a:endParaRPr lang="en-US" sz="1400" dirty="0"/>
          </a:p>
        </p:txBody>
      </p:sp>
      <p:sp>
        <p:nvSpPr>
          <p:cNvPr id="30" name="Text 28"/>
          <p:cNvSpPr txBox="1"/>
          <p:nvPr/>
        </p:nvSpPr>
        <p:spPr>
          <a:xfrm>
            <a:off x="9226296" y="5074920"/>
            <a:ext cx="2194560" cy="274320"/>
          </a:xfrm>
          <a:prstGeom prst="rect">
            <a:avLst/>
          </a:prstGeom>
          <a:noFill/>
          <a:ln/>
        </p:spPr>
        <p:txBody>
          <a:bodyPr wrap="square" lIns="0" tIns="0" rIns="0" bIns="0" rtlCol="0" anchor="t"/>
          <a:lstStyle/>
          <a:p>
            <a:pPr indent="0" marL="0">
              <a:buNone/>
            </a:pPr>
            <a:r>
              <a:rPr lang="en-US" sz="1100" b="1" dirty="0">
                <a:solidFill>
                  <a:schemeClr val="accent3"/>
                </a:solidFill>
              </a:rPr>
              <a:t>Runs in: Backend</a:t>
            </a:r>
            <a:endParaRPr lang="en-US" sz="1100" dirty="0"/>
          </a:p>
        </p:txBody>
      </p:sp>
      <p:sp>
        <p:nvSpPr>
          <p:cNvPr id="31" name="Text 29"/>
          <p:cNvSpPr txBox="1"/>
          <p:nvPr/>
        </p:nvSpPr>
        <p:spPr>
          <a:xfrm>
            <a:off x="548640" y="5669280"/>
            <a:ext cx="11064240" cy="365760"/>
          </a:xfrm>
          <a:prstGeom prst="rect">
            <a:avLst/>
          </a:prstGeom>
          <a:noFill/>
          <a:ln/>
        </p:spPr>
        <p:txBody>
          <a:bodyPr wrap="square" lIns="0" tIns="0" rIns="0" bIns="0" rtlCol="0" anchor="t"/>
          <a:lstStyle/>
          <a:p>
            <a:pPr indent="0" marL="0">
              <a:buNone/>
            </a:pPr>
            <a:r>
              <a:rPr lang="en-US" sz="1500" i="1" dirty="0">
                <a:solidFill>
                  <a:schemeClr val="tx2"/>
                </a:solidFill>
              </a:rPr>
              <a:t>A constraint marked Satisfied without evidence is rejected by the server, even through a direct API call.</a:t>
            </a:r>
            <a:endParaRPr lang="en-US" sz="1500" dirty="0"/>
          </a:p>
        </p:txBody>
      </p:sp>
      <p:sp>
        <p:nvSpPr>
          <p:cNvPr id="25" name="Slide Number Placeholder 0"/>
          <p:cNvSpPr>
            <a:spLocks noGrp="1"/>
          </p:cNvSpPr>
          <p:nvPr>
            <p:ph type="sldNum" sz="quarter" idx="4294967295"/>
          </p:nvPr>
        </p:nvSpPr>
        <p:spPr>
          <a:xfrm>
            <a:off x="11247120" y="635508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After sign-off, the contract becomes the runtime baseline</a:t>
            </a:r>
            <a:endParaRPr lang="en-US" sz="3200" dirty="0"/>
          </a:p>
        </p:txBody>
      </p:sp>
      <p:sp>
        <p:nvSpPr>
          <p:cNvPr id="3" name="design"/>
          <p:cNvSpPr/>
          <p:nvPr/>
        </p:nvSpPr>
        <p:spPr>
          <a:xfrm>
            <a:off x="548640" y="1371600"/>
            <a:ext cx="4206240" cy="3931920"/>
          </a:xfrm>
          <a:prstGeom prst="roundRect">
            <a:avLst>
              <a:gd name="adj" fmla="val 1860"/>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4" name="Text 2"/>
          <p:cNvSpPr txBox="1"/>
          <p:nvPr/>
        </p:nvSpPr>
        <p:spPr>
          <a:xfrm>
            <a:off x="822960" y="1554480"/>
            <a:ext cx="3657600" cy="411480"/>
          </a:xfrm>
          <a:prstGeom prst="rect">
            <a:avLst/>
          </a:prstGeom>
          <a:noFill/>
          <a:ln/>
        </p:spPr>
        <p:txBody>
          <a:bodyPr wrap="square" lIns="0" tIns="0" rIns="0" bIns="0" rtlCol="0" anchor="t"/>
          <a:lstStyle/>
          <a:p>
            <a:pPr indent="0" marL="0">
              <a:buNone/>
            </a:pPr>
            <a:r>
              <a:rPr lang="en-US" sz="1800" b="1" dirty="0">
                <a:solidFill>
                  <a:schemeClr val="accent1"/>
                </a:solidFill>
              </a:rPr>
              <a:t>Design time</a:t>
            </a:r>
            <a:endParaRPr lang="en-US" sz="1800" dirty="0"/>
          </a:p>
        </p:txBody>
      </p:sp>
      <p:sp>
        <p:nvSpPr>
          <p:cNvPr id="5" name="Text 3"/>
          <p:cNvSpPr txBox="1"/>
          <p:nvPr/>
        </p:nvSpPr>
        <p:spPr>
          <a:xfrm>
            <a:off x="822960" y="2103120"/>
            <a:ext cx="3657600" cy="301752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Design assessed and scored</a:t>
            </a:r>
            <a:endParaRPr lang="en-US" sz="1600" dirty="0"/>
          </a:p>
          <a:p>
            <a:pPr marL="177800" indent="-177800">
              <a:spcAft>
                <a:spcPts val="600"/>
              </a:spcAft>
              <a:buSzPct val="100000"/>
              <a:buChar char="•"/>
            </a:pPr>
            <a:r>
              <a:rPr lang="en-US" sz="1600" dirty="0">
                <a:solidFill>
                  <a:schemeClr val="tx1"/>
                </a:solidFill>
              </a:rPr>
              <a:t>Blocked designs cannot be approved</a:t>
            </a:r>
            <a:endParaRPr lang="en-US" sz="1600" dirty="0"/>
          </a:p>
          <a:p>
            <a:pPr marL="177800" indent="-177800">
              <a:spcAft>
                <a:spcPts val="600"/>
              </a:spcAft>
              <a:buSzPct val="100000"/>
              <a:buChar char="•"/>
            </a:pPr>
            <a:r>
              <a:rPr lang="en-US" sz="1600" dirty="0">
                <a:solidFill>
                  <a:schemeClr val="tx1"/>
                </a:solidFill>
              </a:rPr>
              <a:t>Named compliance reviewer signs off</a:t>
            </a:r>
            <a:endParaRPr lang="en-US" sz="1600" dirty="0"/>
          </a:p>
          <a:p>
            <a:pPr marL="177800" indent="-177800">
              <a:spcAft>
                <a:spcPts val="600"/>
              </a:spcAft>
              <a:buSzPct val="100000"/>
              <a:buChar char="•"/>
            </a:pPr>
            <a:r>
              <a:rPr lang="en-US" sz="1600" dirty="0">
                <a:solidFill>
                  <a:schemeClr val="tx1"/>
                </a:solidFill>
              </a:rPr>
              <a:t>Contract lists what the system may do: tools, data stores, connections, delegations, autonomy</a:t>
            </a:r>
            <a:endParaRPr lang="en-US" sz="1600" dirty="0"/>
          </a:p>
        </p:txBody>
      </p:sp>
      <p:sp>
        <p:nvSpPr>
          <p:cNvPr id="6" name="contract"/>
          <p:cNvSpPr/>
          <p:nvPr/>
        </p:nvSpPr>
        <p:spPr>
          <a:xfrm>
            <a:off x="5074920" y="2240280"/>
            <a:ext cx="2011680" cy="2011680"/>
          </a:xfrm>
          <a:prstGeom prst="ellipse">
            <a:avLst/>
          </a:prstGeom>
          <a:solidFill>
            <a:schemeClr val="accent2"/>
          </a:solidFill>
          <a:ln w="12700">
            <a:solidFill>
              <a:schemeClr val="accent2"/>
            </a:solidFill>
            <a:prstDash val="solid"/>
          </a:ln>
        </p:spPr>
      </p:sp>
      <p:sp>
        <p:nvSpPr>
          <p:cNvPr id="7" name="Text 5"/>
          <p:cNvSpPr txBox="1"/>
          <p:nvPr/>
        </p:nvSpPr>
        <p:spPr>
          <a:xfrm>
            <a:off x="5074920" y="2240280"/>
            <a:ext cx="2011680" cy="2011680"/>
          </a:xfrm>
          <a:prstGeom prst="rect">
            <a:avLst/>
          </a:prstGeom>
          <a:noFill/>
          <a:ln/>
        </p:spPr>
        <p:txBody>
          <a:bodyPr wrap="square" lIns="0" tIns="0" rIns="0" bIns="0" rtlCol="0" anchor="ctr"/>
          <a:lstStyle/>
          <a:p>
            <a:pPr algn="ctr" indent="0" marL="0">
              <a:buNone/>
            </a:pPr>
            <a:r>
              <a:rPr lang="en-US" sz="1500" b="1" dirty="0">
                <a:solidFill>
                  <a:schemeClr val="bg1"/>
                </a:solidFill>
              </a:rPr>
              <a:t>Signed contract</a:t>
            </a:r>
            <a:endParaRPr lang="en-US" sz="1500" dirty="0"/>
          </a:p>
          <a:p>
            <a:pPr algn="ctr" indent="0" marL="0">
              <a:buNone/>
            </a:pPr>
            <a:r>
              <a:rPr lang="en-US" sz="1500" b="1" dirty="0">
                <a:solidFill>
                  <a:schemeClr val="bg1"/>
                </a:solidFill>
              </a:rPr>
              <a:t>SHA-256 hash</a:t>
            </a:r>
            <a:endParaRPr lang="en-US" sz="1500" dirty="0"/>
          </a:p>
          <a:p>
            <a:pPr algn="ctr" indent="0" marL="0">
              <a:buNone/>
            </a:pPr>
            <a:r>
              <a:rPr lang="en-US" sz="1500" b="1" dirty="0">
                <a:solidFill>
                  <a:schemeClr val="bg1"/>
                </a:solidFill>
              </a:rPr>
              <a:t>versioned</a:t>
            </a:r>
            <a:endParaRPr lang="en-US" sz="1500" dirty="0"/>
          </a:p>
        </p:txBody>
      </p:sp>
      <p:sp>
        <p:nvSpPr>
          <p:cNvPr id="8" name="relation"/>
          <p:cNvSpPr/>
          <p:nvPr/>
        </p:nvSpPr>
        <p:spPr>
          <a:xfrm>
            <a:off x="4754880" y="3246120"/>
            <a:ext cx="320040" cy="914"/>
          </a:xfrm>
          <a:prstGeom prst="line">
            <a:avLst/>
          </a:prstGeom>
          <a:noFill/>
          <a:ln w="25400">
            <a:solidFill>
              <a:schemeClr val="accent2"/>
            </a:solidFill>
            <a:prstDash val="solid"/>
            <a:tailEnd type="triangle"/>
          </a:ln>
        </p:spPr>
      </p:sp>
      <p:sp>
        <p:nvSpPr>
          <p:cNvPr id="9" name="relation"/>
          <p:cNvSpPr/>
          <p:nvPr/>
        </p:nvSpPr>
        <p:spPr>
          <a:xfrm>
            <a:off x="7086600" y="3246120"/>
            <a:ext cx="320040" cy="914"/>
          </a:xfrm>
          <a:prstGeom prst="line">
            <a:avLst/>
          </a:prstGeom>
          <a:noFill/>
          <a:ln w="25400">
            <a:solidFill>
              <a:schemeClr val="accent2"/>
            </a:solidFill>
            <a:prstDash val="solid"/>
            <a:tailEnd type="triangle"/>
          </a:ln>
        </p:spPr>
      </p:sp>
      <p:sp>
        <p:nvSpPr>
          <p:cNvPr id="10" name="runtime"/>
          <p:cNvSpPr/>
          <p:nvPr/>
        </p:nvSpPr>
        <p:spPr>
          <a:xfrm>
            <a:off x="7406640" y="1371600"/>
            <a:ext cx="4206240" cy="3931920"/>
          </a:xfrm>
          <a:prstGeom prst="roundRect">
            <a:avLst>
              <a:gd name="adj" fmla="val 1860"/>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11" name="Text 9"/>
          <p:cNvSpPr txBox="1"/>
          <p:nvPr/>
        </p:nvSpPr>
        <p:spPr>
          <a:xfrm>
            <a:off x="7680960" y="1554480"/>
            <a:ext cx="3657600" cy="411480"/>
          </a:xfrm>
          <a:prstGeom prst="rect">
            <a:avLst/>
          </a:prstGeom>
          <a:noFill/>
          <a:ln/>
        </p:spPr>
        <p:txBody>
          <a:bodyPr wrap="square" lIns="0" tIns="0" rIns="0" bIns="0" rtlCol="0" anchor="t"/>
          <a:lstStyle/>
          <a:p>
            <a:pPr indent="0" marL="0">
              <a:buNone/>
            </a:pPr>
            <a:r>
              <a:rPr lang="en-US" sz="1800" b="1" dirty="0">
                <a:solidFill>
                  <a:schemeClr val="accent3"/>
                </a:solidFill>
              </a:rPr>
              <a:t>Runtime</a:t>
            </a:r>
            <a:endParaRPr lang="en-US" sz="1800" dirty="0"/>
          </a:p>
        </p:txBody>
      </p:sp>
      <p:sp>
        <p:nvSpPr>
          <p:cNvPr id="12" name="Text 10"/>
          <p:cNvSpPr txBox="1"/>
          <p:nvPr/>
        </p:nvSpPr>
        <p:spPr>
          <a:xfrm>
            <a:off x="7680960" y="2103120"/>
            <a:ext cx="3657600" cy="301752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Linked with the ASTRA SDK (Python; OpenAI Agents SDK and LangChain/LangGraph adapters) or OpenTelemetry</a:t>
            </a:r>
            <a:endParaRPr lang="en-US" sz="1600" dirty="0"/>
          </a:p>
          <a:p>
            <a:pPr marL="177800" indent="-177800">
              <a:spcAft>
                <a:spcPts val="600"/>
              </a:spcAft>
              <a:buSzPct val="100000"/>
              <a:buChar char="•"/>
            </a:pPr>
            <a:r>
              <a:rPr lang="en-US" sz="1600" dirty="0">
                <a:solidFill>
                  <a:schemeClr val="tx1"/>
                </a:solidFill>
              </a:rPr>
              <a:t>Each action compared with the contract as it happens</a:t>
            </a:r>
            <a:endParaRPr lang="en-US" sz="1600" dirty="0"/>
          </a:p>
          <a:p>
            <a:pPr marL="177800" indent="-177800">
              <a:spcAft>
                <a:spcPts val="600"/>
              </a:spcAft>
              <a:buSzPct val="100000"/>
              <a:buChar char="•"/>
            </a:pPr>
            <a:r>
              <a:rPr lang="en-US" sz="1600" dirty="0">
                <a:solidFill>
                  <a:schemeClr val="tx1"/>
                </a:solidFill>
              </a:rPr>
              <a:t>Outside the contract: a finding; a new capability: a drift item</a:t>
            </a:r>
            <a:endParaRPr lang="en-US" sz="1600" dirty="0"/>
          </a:p>
          <a:p>
            <a:pPr marL="177800" indent="-177800">
              <a:spcAft>
                <a:spcPts val="600"/>
              </a:spcAft>
              <a:buSzPct val="100000"/>
              <a:buChar char="•"/>
            </a:pPr>
            <a:r>
              <a:rPr lang="en-US" sz="1600" dirty="0">
                <a:solidFill>
                  <a:schemeClr val="tx1"/>
                </a:solidFill>
              </a:rPr>
              <a:t>Models: drift, fairness, model-version change, data leaving, genuine human review</a:t>
            </a:r>
            <a:endParaRPr lang="en-US" sz="1600" dirty="0"/>
          </a:p>
        </p:txBody>
      </p:sp>
      <p:sp>
        <p:nvSpPr>
          <p:cNvPr id="13" name="Text 11"/>
          <p:cNvSpPr txBox="1"/>
          <p:nvPr/>
        </p:nvSpPr>
        <p:spPr>
          <a:xfrm>
            <a:off x="548640" y="5577840"/>
            <a:ext cx="11064240" cy="457200"/>
          </a:xfrm>
          <a:prstGeom prst="rect">
            <a:avLst/>
          </a:prstGeom>
          <a:noFill/>
          <a:ln/>
        </p:spPr>
        <p:txBody>
          <a:bodyPr wrap="square" lIns="0" tIns="0" rIns="0" bIns="0" rtlCol="0" anchor="t"/>
          <a:lstStyle/>
          <a:p>
            <a:pPr algn="ctr" indent="0" marL="0">
              <a:buNone/>
            </a:pPr>
            <a:r>
              <a:rPr lang="en-US" sz="1500" i="1" dirty="0">
                <a:solidFill>
                  <a:schemeClr val="tx2"/>
                </a:solidFill>
              </a:rPr>
              <a:t>Drift item approved → new contract version.   Declined → recorded, and still reported.   Sends names and statistics only, never prompts or data.</a:t>
            </a:r>
            <a:endParaRPr lang="en-US" sz="1500" dirty="0"/>
          </a:p>
        </p:txBody>
      </p:sp>
      <p:sp>
        <p:nvSpPr>
          <p:cNvPr id="25" name="Slide Number Placeholder 0"/>
          <p:cNvSpPr>
            <a:spLocks noGrp="1"/>
          </p:cNvSpPr>
          <p:nvPr>
            <p:ph type="sldNum" sz="quarter" idx="4294967295"/>
          </p:nvPr>
        </p:nvSpPr>
        <p:spPr>
          <a:xfrm>
            <a:off x="11247120" y="635508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9728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Current progress</a:t>
            </a:r>
            <a:endParaRPr lang="en-US" sz="4400" dirty="0"/>
          </a:p>
        </p:txBody>
      </p:sp>
      <p:sp>
        <p:nvSpPr>
          <p:cNvPr id="3" name="Text 0"/>
          <p:cNvSpPr/>
          <p:nvPr>
            <p:ph idx="101" type="body" hasCustomPrompt="1"/>
          </p:nvPr>
        </p:nvSpPr>
        <p:spPr>
          <a:xfrm>
            <a:off x="731520" y="3611880"/>
            <a:ext cx="10058400" cy="1097280"/>
          </a:xfrm>
          <a:prstGeom prst="rect">
            <a:avLst/>
          </a:prstGeom>
          <a:noFill/>
          <a:ln/>
        </p:spPr>
        <p:txBody>
          <a:bodyPr wrap="square" lIns="0" tIns="0" rIns="0" bIns="0" rtlCol="0" anchor="t"/>
          <a:lstStyle/>
          <a:p>
            <a:pPr indent="0" marL="0">
              <a:buNone/>
            </a:pPr>
            <a:r>
              <a:rPr lang="en-US" sz="2000" dirty="0">
                <a:solidFill>
                  <a:schemeClr val="accent6"/>
                </a:solidFill>
              </a:rPr>
              <a:t>A working research platform, demonstrated on realistic example organisations</a:t>
            </a:r>
            <a:endParaRPr lang="en-US" sz="2000" dirty="0"/>
          </a:p>
        </p:txBody>
      </p:sp>
      <p:sp>
        <p:nvSpPr>
          <p:cNvPr id="25" name="Slide Number Placeholder 0"/>
          <p:cNvSpPr>
            <a:spLocks noGrp="1"/>
          </p:cNvSpPr>
          <p:nvPr>
            <p:ph type="sldNum" sz="quarter" idx="4294967295"/>
          </p:nvPr>
        </p:nvSpPr>
        <p:spPr>
          <a:xfrm>
            <a:off x="11247120" y="630936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is built today</a:t>
            </a:r>
            <a:endParaRPr lang="en-US" sz="3200" dirty="0"/>
          </a:p>
        </p:txBody>
      </p:sp>
      <p:sp>
        <p:nvSpPr>
          <p:cNvPr id="3" name="built"/>
          <p:cNvSpPr/>
          <p:nvPr/>
        </p:nvSpPr>
        <p:spPr>
          <a:xfrm>
            <a:off x="548640" y="1371600"/>
            <a:ext cx="3474720" cy="4297680"/>
          </a:xfrm>
          <a:prstGeom prst="roundRect">
            <a:avLst>
              <a:gd name="adj" fmla="val 2105"/>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4" name="badge"/>
          <p:cNvSpPr/>
          <p:nvPr/>
        </p:nvSpPr>
        <p:spPr>
          <a:xfrm>
            <a:off x="777240" y="155448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777240" y="15544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6" name="Text 4"/>
          <p:cNvSpPr txBox="1"/>
          <p:nvPr/>
        </p:nvSpPr>
        <p:spPr>
          <a:xfrm>
            <a:off x="1371600" y="1554480"/>
            <a:ext cx="2514600" cy="457200"/>
          </a:xfrm>
          <a:prstGeom prst="rect">
            <a:avLst/>
          </a:prstGeom>
          <a:noFill/>
          <a:ln/>
        </p:spPr>
        <p:txBody>
          <a:bodyPr wrap="square" lIns="0" tIns="0" rIns="0" bIns="0" rtlCol="0" anchor="ctr"/>
          <a:lstStyle/>
          <a:p>
            <a:pPr indent="0" marL="0">
              <a:buNone/>
            </a:pPr>
            <a:r>
              <a:rPr lang="en-US" sz="1800" b="1" dirty="0">
                <a:solidFill>
                  <a:schemeClr val="tx2"/>
                </a:solidFill>
              </a:rPr>
              <a:t>Design time</a:t>
            </a:r>
            <a:endParaRPr lang="en-US" sz="1800" dirty="0"/>
          </a:p>
        </p:txBody>
      </p:sp>
      <p:sp>
        <p:nvSpPr>
          <p:cNvPr id="7" name="Text 5"/>
          <p:cNvSpPr txBox="1"/>
          <p:nvPr/>
        </p:nvSpPr>
        <p:spPr>
          <a:xfrm>
            <a:off x="822960" y="2240280"/>
            <a:ext cx="2971800" cy="329184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Organisation map: departments, people, AI systems</a:t>
            </a:r>
            <a:endParaRPr lang="en-US" sz="1600" dirty="0"/>
          </a:p>
          <a:p>
            <a:pPr marL="177800" indent="-177800">
              <a:spcAft>
                <a:spcPts val="600"/>
              </a:spcAft>
              <a:buSzPct val="100000"/>
              <a:buChar char="•"/>
            </a:pPr>
            <a:r>
              <a:rPr lang="en-US" sz="1600" dirty="0">
                <a:solidFill>
                  <a:schemeClr val="tx1"/>
                </a:solidFill>
              </a:rPr>
              <a:t>AI Models and AI Agents design studios</a:t>
            </a:r>
            <a:endParaRPr lang="en-US" sz="1600" dirty="0"/>
          </a:p>
          <a:p>
            <a:pPr marL="177800" indent="-177800">
              <a:spcAft>
                <a:spcPts val="600"/>
              </a:spcAft>
              <a:buSzPct val="100000"/>
              <a:buChar char="•"/>
            </a:pPr>
            <a:r>
              <a:rPr lang="en-US" sz="1600" dirty="0">
                <a:solidFill>
                  <a:schemeClr val="tx1"/>
                </a:solidFill>
              </a:rPr>
              <a:t>Secure Tropos, PCS and RCR scoring</a:t>
            </a:r>
            <a:endParaRPr lang="en-US" sz="1600" dirty="0"/>
          </a:p>
          <a:p>
            <a:pPr marL="177800" indent="-177800">
              <a:spcAft>
                <a:spcPts val="600"/>
              </a:spcAft>
              <a:buSzPct val="100000"/>
              <a:buChar char="•"/>
            </a:pPr>
            <a:r>
              <a:rPr lang="en-US" sz="1600" dirty="0">
                <a:solidFill>
                  <a:schemeClr val="tx1"/>
                </a:solidFill>
              </a:rPr>
              <a:t>Regulations, rules and organisation policies in PostgreSQL</a:t>
            </a:r>
            <a:endParaRPr lang="en-US" sz="1600" dirty="0"/>
          </a:p>
          <a:p>
            <a:pPr marL="177800" indent="-177800">
              <a:spcAft>
                <a:spcPts val="600"/>
              </a:spcAft>
              <a:buSzPct val="100000"/>
              <a:buChar char="•"/>
            </a:pPr>
            <a:r>
              <a:rPr lang="en-US" sz="1600" dirty="0">
                <a:solidFill>
                  <a:schemeClr val="tx1"/>
                </a:solidFill>
              </a:rPr>
              <a:t>Regulation ingestion with verbatim quotes and human approval</a:t>
            </a:r>
            <a:endParaRPr lang="en-US" sz="1600" dirty="0"/>
          </a:p>
        </p:txBody>
      </p:sp>
      <p:sp>
        <p:nvSpPr>
          <p:cNvPr id="8" name="built"/>
          <p:cNvSpPr/>
          <p:nvPr/>
        </p:nvSpPr>
        <p:spPr>
          <a:xfrm>
            <a:off x="4297680" y="1371600"/>
            <a:ext cx="3474720" cy="4297680"/>
          </a:xfrm>
          <a:prstGeom prst="roundRect">
            <a:avLst>
              <a:gd name="adj" fmla="val 2105"/>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9" name="badge"/>
          <p:cNvSpPr/>
          <p:nvPr/>
        </p:nvSpPr>
        <p:spPr>
          <a:xfrm>
            <a:off x="4526280" y="1554480"/>
            <a:ext cx="457200" cy="457200"/>
          </a:xfrm>
          <a:prstGeom prst="ellipse">
            <a:avLst/>
          </a:prstGeom>
          <a:solidFill>
            <a:schemeClr val="accent2"/>
          </a:solidFill>
          <a:ln w="12700">
            <a:solidFill>
              <a:schemeClr val="accent2"/>
            </a:solidFill>
            <a:prstDash val="solid"/>
          </a:ln>
        </p:spPr>
      </p:sp>
      <p:sp>
        <p:nvSpPr>
          <p:cNvPr id="10" name="Text 8"/>
          <p:cNvSpPr txBox="1"/>
          <p:nvPr/>
        </p:nvSpPr>
        <p:spPr>
          <a:xfrm>
            <a:off x="4526280" y="15544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1" name="Text 9"/>
          <p:cNvSpPr txBox="1"/>
          <p:nvPr/>
        </p:nvSpPr>
        <p:spPr>
          <a:xfrm>
            <a:off x="5120640" y="1554480"/>
            <a:ext cx="2514600" cy="457200"/>
          </a:xfrm>
          <a:prstGeom prst="rect">
            <a:avLst/>
          </a:prstGeom>
          <a:noFill/>
          <a:ln/>
        </p:spPr>
        <p:txBody>
          <a:bodyPr wrap="square" lIns="0" tIns="0" rIns="0" bIns="0" rtlCol="0" anchor="ctr"/>
          <a:lstStyle/>
          <a:p>
            <a:pPr indent="0" marL="0">
              <a:buNone/>
            </a:pPr>
            <a:r>
              <a:rPr lang="en-US" sz="1800" b="1" dirty="0">
                <a:solidFill>
                  <a:schemeClr val="tx2"/>
                </a:solidFill>
              </a:rPr>
              <a:t>Approval and evidence</a:t>
            </a:r>
            <a:endParaRPr lang="en-US" sz="1800" dirty="0"/>
          </a:p>
        </p:txBody>
      </p:sp>
      <p:sp>
        <p:nvSpPr>
          <p:cNvPr id="12" name="Text 10"/>
          <p:cNvSpPr txBox="1"/>
          <p:nvPr/>
        </p:nvSpPr>
        <p:spPr>
          <a:xfrm>
            <a:off x="4572000" y="2240280"/>
            <a:ext cx="2971800" cy="329184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Ratification and hashed, versioned contracts</a:t>
            </a:r>
            <a:endParaRPr lang="en-US" sz="1600" dirty="0"/>
          </a:p>
          <a:p>
            <a:pPr marL="177800" indent="-177800">
              <a:spcAft>
                <a:spcPts val="600"/>
              </a:spcAft>
              <a:buSzPct val="100000"/>
              <a:buChar char="•"/>
            </a:pPr>
            <a:r>
              <a:rPr lang="en-US" sz="1600" dirty="0">
                <a:solidFill>
                  <a:schemeClr val="tx1"/>
                </a:solidFill>
              </a:rPr>
              <a:t>Supersede and revoke, with reasons</a:t>
            </a:r>
            <a:endParaRPr lang="en-US" sz="1600" dirty="0"/>
          </a:p>
          <a:p>
            <a:pPr marL="177800" indent="-177800">
              <a:spcAft>
                <a:spcPts val="600"/>
              </a:spcAft>
              <a:buSzPct val="100000"/>
              <a:buChar char="•"/>
            </a:pPr>
            <a:r>
              <a:rPr lang="en-US" sz="1600" dirty="0">
                <a:solidFill>
                  <a:schemeClr val="tx1"/>
                </a:solidFill>
              </a:rPr>
              <a:t>Coverage scorecard against OWASP agentic risks</a:t>
            </a:r>
            <a:endParaRPr lang="en-US" sz="1600" dirty="0"/>
          </a:p>
          <a:p>
            <a:pPr marL="177800" indent="-177800">
              <a:spcAft>
                <a:spcPts val="600"/>
              </a:spcAft>
              <a:buSzPct val="100000"/>
              <a:buChar char="•"/>
            </a:pPr>
            <a:r>
              <a:rPr lang="en-US" sz="1600" dirty="0">
                <a:solidFill>
                  <a:schemeClr val="tx1"/>
                </a:solidFill>
              </a:rPr>
              <a:t>Hash-chained assurance packs</a:t>
            </a:r>
            <a:endParaRPr lang="en-US" sz="1600" dirty="0"/>
          </a:p>
          <a:p>
            <a:pPr marL="177800" indent="-177800">
              <a:spcAft>
                <a:spcPts val="600"/>
              </a:spcAft>
              <a:buSzPct val="100000"/>
              <a:buChar char="•"/>
            </a:pPr>
            <a:r>
              <a:rPr lang="en-US" sz="1600" dirty="0">
                <a:solidFill>
                  <a:schemeClr val="tx1"/>
                </a:solidFill>
              </a:rPr>
              <a:t>Sign-in, roles, separation of duties and audit log</a:t>
            </a:r>
            <a:endParaRPr lang="en-US" sz="1600" dirty="0"/>
          </a:p>
        </p:txBody>
      </p:sp>
      <p:sp>
        <p:nvSpPr>
          <p:cNvPr id="13" name="built"/>
          <p:cNvSpPr/>
          <p:nvPr/>
        </p:nvSpPr>
        <p:spPr>
          <a:xfrm>
            <a:off x="8046720" y="1371600"/>
            <a:ext cx="3474720" cy="4297680"/>
          </a:xfrm>
          <a:prstGeom prst="roundRect">
            <a:avLst>
              <a:gd name="adj" fmla="val 2105"/>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14" name="badge"/>
          <p:cNvSpPr/>
          <p:nvPr/>
        </p:nvSpPr>
        <p:spPr>
          <a:xfrm>
            <a:off x="8275320" y="1554480"/>
            <a:ext cx="457200" cy="457200"/>
          </a:xfrm>
          <a:prstGeom prst="ellipse">
            <a:avLst/>
          </a:prstGeom>
          <a:solidFill>
            <a:schemeClr val="accent3"/>
          </a:solidFill>
          <a:ln w="12700">
            <a:solidFill>
              <a:schemeClr val="accent3"/>
            </a:solidFill>
            <a:prstDash val="solid"/>
          </a:ln>
        </p:spPr>
      </p:sp>
      <p:sp>
        <p:nvSpPr>
          <p:cNvPr id="15" name="Text 13"/>
          <p:cNvSpPr txBox="1"/>
          <p:nvPr/>
        </p:nvSpPr>
        <p:spPr>
          <a:xfrm>
            <a:off x="8275320" y="15544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6" name="Text 14"/>
          <p:cNvSpPr txBox="1"/>
          <p:nvPr/>
        </p:nvSpPr>
        <p:spPr>
          <a:xfrm>
            <a:off x="8869680" y="1554480"/>
            <a:ext cx="2514600" cy="457200"/>
          </a:xfrm>
          <a:prstGeom prst="rect">
            <a:avLst/>
          </a:prstGeom>
          <a:noFill/>
          <a:ln/>
        </p:spPr>
        <p:txBody>
          <a:bodyPr wrap="square" lIns="0" tIns="0" rIns="0" bIns="0" rtlCol="0" anchor="ctr"/>
          <a:lstStyle/>
          <a:p>
            <a:pPr indent="0" marL="0">
              <a:buNone/>
            </a:pPr>
            <a:r>
              <a:rPr lang="en-US" sz="1800" b="1" dirty="0">
                <a:solidFill>
                  <a:schemeClr val="tx2"/>
                </a:solidFill>
              </a:rPr>
              <a:t>Runtime and integration</a:t>
            </a:r>
            <a:endParaRPr lang="en-US" sz="1800" dirty="0"/>
          </a:p>
        </p:txBody>
      </p:sp>
      <p:sp>
        <p:nvSpPr>
          <p:cNvPr id="17" name="Text 15"/>
          <p:cNvSpPr txBox="1"/>
          <p:nvPr/>
        </p:nvSpPr>
        <p:spPr>
          <a:xfrm>
            <a:off x="8321040" y="2240280"/>
            <a:ext cx="2971800" cy="329184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chemeClr val="tx1"/>
                </a:solidFill>
              </a:rPr>
              <a:t>Python runtime SDK with optional enforcement</a:t>
            </a:r>
            <a:endParaRPr lang="en-US" sz="1600" dirty="0"/>
          </a:p>
          <a:p>
            <a:pPr marL="177800" indent="-177800">
              <a:spcAft>
                <a:spcPts val="600"/>
              </a:spcAft>
              <a:buSzPct val="100000"/>
              <a:buChar char="•"/>
            </a:pPr>
            <a:r>
              <a:rPr lang="en-US" sz="1600" dirty="0">
                <a:solidFill>
                  <a:schemeClr val="tx1"/>
                </a:solidFill>
              </a:rPr>
              <a:t>OpenTelemetry discovery of agents</a:t>
            </a:r>
            <a:endParaRPr lang="en-US" sz="1600" dirty="0"/>
          </a:p>
          <a:p>
            <a:pPr marL="177800" indent="-177800">
              <a:spcAft>
                <a:spcPts val="600"/>
              </a:spcAft>
              <a:buSzPct val="100000"/>
              <a:buChar char="•"/>
            </a:pPr>
            <a:r>
              <a:rPr lang="en-US" sz="1600" dirty="0">
                <a:solidFill>
                  <a:schemeClr val="tx1"/>
                </a:solidFill>
              </a:rPr>
              <a:t>Model monitoring: drift, fairness, versions, leakage, canaries</a:t>
            </a:r>
            <a:endParaRPr lang="en-US" sz="1600" dirty="0"/>
          </a:p>
          <a:p>
            <a:pPr marL="177800" indent="-177800">
              <a:spcAft>
                <a:spcPts val="600"/>
              </a:spcAft>
              <a:buSzPct val="100000"/>
              <a:buChar char="•"/>
            </a:pPr>
            <a:r>
              <a:rPr lang="en-US" sz="1600" dirty="0">
                <a:solidFill>
                  <a:schemeClr val="tx1"/>
                </a:solidFill>
              </a:rPr>
              <a:t>Importers: agent files, repositories, identity providers</a:t>
            </a:r>
            <a:endParaRPr lang="en-US" sz="1600" dirty="0"/>
          </a:p>
          <a:p>
            <a:pPr marL="177800" indent="-177800">
              <a:spcAft>
                <a:spcPts val="600"/>
              </a:spcAft>
              <a:buSzPct val="100000"/>
              <a:buChar char="•"/>
            </a:pPr>
            <a:r>
              <a:rPr lang="en-US" sz="1600" dirty="0">
                <a:solidFill>
                  <a:schemeClr val="tx1"/>
                </a:solidFill>
              </a:rPr>
              <a:t>Declared-versus-observed assurance gap</a:t>
            </a:r>
            <a:endParaRPr lang="en-US" sz="1600" dirty="0"/>
          </a:p>
        </p:txBody>
      </p:sp>
      <p:sp>
        <p:nvSpPr>
          <p:cNvPr id="25" name="Slide Number Placeholder 0"/>
          <p:cNvSpPr>
            <a:spLocks noGrp="1"/>
          </p:cNvSpPr>
          <p:nvPr>
            <p:ph type="sldNum" sz="quarter" idx="4294967295"/>
          </p:nvPr>
        </p:nvSpPr>
        <p:spPr>
          <a:xfrm>
            <a:off x="11247120" y="635508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is not done yet</a:t>
            </a:r>
            <a:endParaRPr lang="en-US" sz="3200" dirty="0"/>
          </a:p>
        </p:txBody>
      </p:sp>
      <p:sp>
        <p:nvSpPr>
          <p:cNvPr id="3" name="limits"/>
          <p:cNvSpPr/>
          <p:nvPr/>
        </p:nvSpPr>
        <p:spPr>
          <a:xfrm>
            <a:off x="548640" y="1371600"/>
            <a:ext cx="5394960" cy="4023360"/>
          </a:xfrm>
          <a:prstGeom prst="roundRect">
            <a:avLst>
              <a:gd name="adj" fmla="val 1818"/>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4" name="Text 2"/>
          <p:cNvSpPr txBox="1"/>
          <p:nvPr/>
        </p:nvSpPr>
        <p:spPr>
          <a:xfrm>
            <a:off x="822960" y="1554480"/>
            <a:ext cx="4846320" cy="411480"/>
          </a:xfrm>
          <a:prstGeom prst="rect">
            <a:avLst/>
          </a:prstGeom>
          <a:noFill/>
          <a:ln/>
        </p:spPr>
        <p:txBody>
          <a:bodyPr wrap="square" lIns="0" tIns="0" rIns="0" bIns="0" rtlCol="0" anchor="t"/>
          <a:lstStyle/>
          <a:p>
            <a:pPr indent="0" marL="0">
              <a:buNone/>
            </a:pPr>
            <a:r>
              <a:rPr lang="en-US" sz="1800" b="1" dirty="0">
                <a:solidFill>
                  <a:schemeClr val="accent4"/>
                </a:solidFill>
              </a:rPr>
              <a:t>Limitations today</a:t>
            </a:r>
            <a:endParaRPr lang="en-US" sz="1800" dirty="0"/>
          </a:p>
        </p:txBody>
      </p:sp>
      <p:sp>
        <p:nvSpPr>
          <p:cNvPr id="5" name="Text 3"/>
          <p:cNvSpPr txBox="1"/>
          <p:nvPr/>
        </p:nvSpPr>
        <p:spPr>
          <a:xfrm>
            <a:off x="822960" y="2103120"/>
            <a:ext cx="4846320" cy="3108960"/>
          </a:xfrm>
          <a:prstGeom prst="rect">
            <a:avLst/>
          </a:prstGeom>
          <a:noFill/>
          <a:ln/>
        </p:spPr>
        <p:txBody>
          <a:bodyPr wrap="square" lIns="0" tIns="0" rIns="0" bIns="0" rtlCol="0" anchor="t"/>
          <a:lstStyle/>
          <a:p>
            <a:pPr marL="177800" indent="-177800">
              <a:spcAft>
                <a:spcPts val="600"/>
              </a:spcAft>
              <a:buSzPct val="100000"/>
              <a:buChar char="•"/>
            </a:pPr>
            <a:r>
              <a:rPr lang="en-US" sz="1700" dirty="0">
                <a:solidFill>
                  <a:schemeClr val="tx1"/>
                </a:solidFill>
              </a:rPr>
              <a:t>Score weights, floors and thresholds are judgement values, not yet calibrated</a:t>
            </a:r>
            <a:endParaRPr lang="en-US" sz="1700" dirty="0"/>
          </a:p>
          <a:p>
            <a:pPr marL="177800" indent="-177800">
              <a:spcAft>
                <a:spcPts val="600"/>
              </a:spcAft>
              <a:buSzPct val="100000"/>
              <a:buChar char="•"/>
            </a:pPr>
            <a:r>
              <a:rPr lang="en-US" sz="1700" dirty="0">
                <a:solidFill>
                  <a:schemeClr val="tx1"/>
                </a:solidFill>
              </a:rPr>
              <a:t>Most constraint checks rest on declared facts with evidence; runtime is what tests them</a:t>
            </a:r>
            <a:endParaRPr lang="en-US" sz="1700" dirty="0"/>
          </a:p>
          <a:p>
            <a:pPr marL="177800" indent="-177800">
              <a:spcAft>
                <a:spcPts val="600"/>
              </a:spcAft>
              <a:buSzPct val="100000"/>
              <a:buChar char="•"/>
            </a:pPr>
            <a:r>
              <a:rPr lang="en-US" sz="1700" dirty="0">
                <a:solidFill>
                  <a:schemeClr val="tx1"/>
                </a:solidFill>
              </a:rPr>
              <a:t>The structural review runs in the studio, not yet on the server</a:t>
            </a:r>
            <a:endParaRPr lang="en-US" sz="1700" dirty="0"/>
          </a:p>
          <a:p>
            <a:pPr marL="177800" indent="-177800">
              <a:spcAft>
                <a:spcPts val="600"/>
              </a:spcAft>
              <a:buSzPct val="100000"/>
              <a:buChar char="•"/>
            </a:pPr>
            <a:r>
              <a:rPr lang="en-US" sz="1700" dirty="0">
                <a:solidFill>
                  <a:schemeClr val="tx1"/>
                </a:solidFill>
              </a:rPr>
              <a:t>Not yet tested on a real organisation's systems</a:t>
            </a:r>
            <a:endParaRPr lang="en-US" sz="1700" dirty="0"/>
          </a:p>
        </p:txBody>
      </p:sp>
      <p:sp>
        <p:nvSpPr>
          <p:cNvPr id="6" name="next"/>
          <p:cNvSpPr/>
          <p:nvPr/>
        </p:nvSpPr>
        <p:spPr>
          <a:xfrm>
            <a:off x="6217920" y="1371600"/>
            <a:ext cx="5394960" cy="4023360"/>
          </a:xfrm>
          <a:prstGeom prst="roundRect">
            <a:avLst>
              <a:gd name="adj" fmla="val 1818"/>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7" name="Text 5"/>
          <p:cNvSpPr txBox="1"/>
          <p:nvPr/>
        </p:nvSpPr>
        <p:spPr>
          <a:xfrm>
            <a:off x="6492240" y="1554480"/>
            <a:ext cx="4846320" cy="411480"/>
          </a:xfrm>
          <a:prstGeom prst="rect">
            <a:avLst/>
          </a:prstGeom>
          <a:noFill/>
          <a:ln/>
        </p:spPr>
        <p:txBody>
          <a:bodyPr wrap="square" lIns="0" tIns="0" rIns="0" bIns="0" rtlCol="0" anchor="t"/>
          <a:lstStyle/>
          <a:p>
            <a:pPr indent="0" marL="0">
              <a:buNone/>
            </a:pPr>
            <a:r>
              <a:rPr lang="en-US" sz="1800" b="1" dirty="0">
                <a:solidFill>
                  <a:schemeClr val="accent3"/>
                </a:solidFill>
              </a:rPr>
              <a:t>Next engineering steps</a:t>
            </a:r>
            <a:endParaRPr lang="en-US" sz="1800" dirty="0"/>
          </a:p>
        </p:txBody>
      </p:sp>
      <p:sp>
        <p:nvSpPr>
          <p:cNvPr id="8" name="Text 6"/>
          <p:cNvSpPr txBox="1"/>
          <p:nvPr/>
        </p:nvSpPr>
        <p:spPr>
          <a:xfrm>
            <a:off x="6492240" y="2103120"/>
            <a:ext cx="4846320" cy="3108960"/>
          </a:xfrm>
          <a:prstGeom prst="rect">
            <a:avLst/>
          </a:prstGeom>
          <a:noFill/>
          <a:ln/>
        </p:spPr>
        <p:txBody>
          <a:bodyPr wrap="square" lIns="0" tIns="0" rIns="0" bIns="0" rtlCol="0" anchor="t"/>
          <a:lstStyle/>
          <a:p>
            <a:pPr marL="177800" indent="-177800">
              <a:spcAft>
                <a:spcPts val="600"/>
              </a:spcAft>
              <a:buSzPct val="100000"/>
              <a:buChar char="•"/>
            </a:pPr>
            <a:r>
              <a:rPr lang="en-US" sz="1700" dirty="0">
                <a:solidFill>
                  <a:schemeClr val="tx1"/>
                </a:solidFill>
              </a:rPr>
              <a:t>TypeScript and Java SDKs on the same wire format; a CrewAI runtime adapter</a:t>
            </a:r>
            <a:endParaRPr lang="en-US" sz="1700" dirty="0"/>
          </a:p>
          <a:p>
            <a:pPr marL="177800" indent="-177800">
              <a:spcAft>
                <a:spcPts val="600"/>
              </a:spcAft>
              <a:buSzPct val="100000"/>
              <a:buChar char="•"/>
            </a:pPr>
            <a:r>
              <a:rPr lang="en-US" sz="1700" dirty="0">
                <a:solidFill>
                  <a:schemeClr val="tx1"/>
                </a:solidFill>
              </a:rPr>
              <a:t>Network-level blocking (today only wrapped tool calls can be refused)</a:t>
            </a:r>
            <a:endParaRPr lang="en-US" sz="1700" dirty="0"/>
          </a:p>
          <a:p>
            <a:pPr marL="177800" indent="-177800">
              <a:spcAft>
                <a:spcPts val="600"/>
              </a:spcAft>
              <a:buSzPct val="100000"/>
              <a:buChar char="•"/>
            </a:pPr>
            <a:r>
              <a:rPr lang="en-US" sz="1700" dirty="0">
                <a:solidFill>
                  <a:schemeClr val="tx1"/>
                </a:solidFill>
              </a:rPr>
              <a:t>Single sign-on and a second factor</a:t>
            </a:r>
            <a:endParaRPr lang="en-US" sz="1700" dirty="0"/>
          </a:p>
          <a:p>
            <a:pPr marL="177800" indent="-177800">
              <a:spcAft>
                <a:spcPts val="600"/>
              </a:spcAft>
              <a:buSzPct val="100000"/>
              <a:buChar char="•"/>
            </a:pPr>
            <a:r>
              <a:rPr lang="en-US" sz="1700" dirty="0">
                <a:solidFill>
                  <a:schemeClr val="tx1"/>
                </a:solidFill>
              </a:rPr>
              <a:t>Reading model inference logs from databases and warehouses</a:t>
            </a:r>
            <a:endParaRPr lang="en-US" sz="1700" dirty="0"/>
          </a:p>
          <a:p>
            <a:pPr marL="177800" indent="-177800">
              <a:spcAft>
                <a:spcPts val="600"/>
              </a:spcAft>
              <a:buSzPct val="100000"/>
              <a:buChar char="•"/>
            </a:pPr>
            <a:r>
              <a:rPr lang="en-US" sz="1700" dirty="0">
                <a:solidFill>
                  <a:schemeClr val="tx1"/>
                </a:solidFill>
              </a:rPr>
              <a:t>Server-side PDF reports and a trust-centre export</a:t>
            </a:r>
            <a:endParaRPr lang="en-US" sz="1700" dirty="0"/>
          </a:p>
        </p:txBody>
      </p:sp>
      <p:sp>
        <p:nvSpPr>
          <p:cNvPr id="25" name="Slide Number Placeholder 0"/>
          <p:cNvSpPr>
            <a:spLocks noGrp="1"/>
          </p:cNvSpPr>
          <p:nvPr>
            <p:ph type="sldNum" sz="quarter" idx="4294967295"/>
          </p:nvPr>
        </p:nvSpPr>
        <p:spPr>
          <a:xfrm>
            <a:off x="11247120" y="635508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9728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Market and differentiation</a:t>
            </a:r>
            <a:endParaRPr lang="en-US" sz="4400" dirty="0"/>
          </a:p>
        </p:txBody>
      </p:sp>
      <p:sp>
        <p:nvSpPr>
          <p:cNvPr id="3" name="Text 0"/>
          <p:cNvSpPr/>
          <p:nvPr>
            <p:ph idx="101" type="body" hasCustomPrompt="1"/>
          </p:nvPr>
        </p:nvSpPr>
        <p:spPr>
          <a:xfrm>
            <a:off x="731520" y="3611880"/>
            <a:ext cx="10058400" cy="1097280"/>
          </a:xfrm>
          <a:prstGeom prst="rect">
            <a:avLst/>
          </a:prstGeom>
          <a:noFill/>
          <a:ln/>
        </p:spPr>
        <p:txBody>
          <a:bodyPr wrap="square" lIns="0" tIns="0" rIns="0" bIns="0" rtlCol="0" anchor="t"/>
          <a:lstStyle/>
          <a:p>
            <a:pPr indent="0" marL="0">
              <a:buNone/>
            </a:pPr>
            <a:r>
              <a:rPr lang="en-US" sz="2000" dirty="0">
                <a:solidFill>
                  <a:schemeClr val="accent6"/>
                </a:solidFill>
              </a:rPr>
              <a:t>Where ASTRA sits among AI governance and AI security products</a:t>
            </a:r>
            <a:endParaRPr lang="en-US" sz="2000" dirty="0"/>
          </a:p>
        </p:txBody>
      </p:sp>
      <p:sp>
        <p:nvSpPr>
          <p:cNvPr id="25" name="Slide Number Placeholder 0"/>
          <p:cNvSpPr>
            <a:spLocks noGrp="1"/>
          </p:cNvSpPr>
          <p:nvPr>
            <p:ph type="sldNum" sz="quarter" idx="4294967295"/>
          </p:nvPr>
        </p:nvSpPr>
        <p:spPr>
          <a:xfrm>
            <a:off x="11247120" y="630936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Two camps: governance records and runtime security</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194560"/>
                <a:gridCol w="3017520"/>
                <a:gridCol w="2926080"/>
                <a:gridCol w="2926080"/>
              </a:tblGrid>
              <a:tr h="411480">
                <a:tc>
                  <a:txBody>
                    <a:bodyPr/>
                    <a:lstStyle/>
                    <a:p>
                      <a:pPr indent="0" marL="0">
                        <a:buNone/>
                      </a:pPr>
                      <a:r>
                        <a:rPr lang="en-US" sz="1400" b="1" dirty="0">
                          <a:solidFill>
                            <a:schemeClr val="bg1"/>
                          </a:solidFill>
                        </a:rPr>
                        <a:t>Category</a:t>
                      </a:r>
                      <a:endParaRPr lang="en-US" sz="14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Examples</a:t>
                      </a:r>
                      <a:endParaRPr lang="en-US" sz="14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Strength</a:t>
                      </a:r>
                      <a:endParaRPr lang="en-US" sz="14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Typical gap</a:t>
                      </a:r>
                      <a:endParaRPr lang="en-US" sz="14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r>
              <a:tr h="914400">
                <a:tc>
                  <a:txBody>
                    <a:bodyPr/>
                    <a:lstStyle/>
                    <a:p>
                      <a:pPr indent="0" marL="0">
                        <a:buNone/>
                      </a:pPr>
                      <a:r>
                        <a:rPr lang="en-US" sz="1300" b="1" dirty="0">
                          <a:solidFill>
                            <a:schemeClr val="tx1"/>
                          </a:solidFill>
                        </a:rPr>
                        <a:t>AI governance platforms</a:t>
                      </a:r>
                      <a:endParaRPr lang="en-US" sz="13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Credo AI, Holistic AI, IBM watsonx.governance, OneTrust</a:t>
                      </a:r>
                      <a:endParaRPr lang="en-US" sz="13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Registers, policy packs (EU AI Act, NIST, ISO 42001), workflows</a:t>
                      </a:r>
                      <a:endParaRPr lang="en-US" sz="13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4"/>
                          </a:solidFill>
                        </a:rPr>
                        <a:t>Assessments are questionnaires and control lists, not a formal model of the design</a:t>
                      </a:r>
                      <a:endParaRPr lang="en-US" sz="13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914400">
                <a:tc>
                  <a:txBody>
                    <a:bodyPr/>
                    <a:lstStyle/>
                    <a:p>
                      <a:pPr indent="0" marL="0">
                        <a:buNone/>
                      </a:pPr>
                      <a:r>
                        <a:rPr lang="en-US" sz="1300" b="1" dirty="0">
                          <a:solidFill>
                            <a:schemeClr val="tx1"/>
                          </a:solidFill>
                        </a:rPr>
                        <a:t>Agent security and runtime</a:t>
                      </a:r>
                      <a:endParaRPr lang="en-US" sz="13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Zenity, Noma, Palo Alto Prisma AIRS, Cisco AI Defense</a:t>
                      </a:r>
                      <a:endParaRPr lang="en-US" sz="13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Discovery, posture, runtime inspection of agents</a:t>
                      </a:r>
                      <a:endParaRPr lang="en-US" sz="13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4"/>
                          </a:solidFill>
                        </a:rPr>
                        <a:t>Runtime policies are not derived from an approved, signed design</a:t>
                      </a:r>
                      <a:endParaRPr lang="en-US" sz="13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914400">
                <a:tc>
                  <a:txBody>
                    <a:bodyPr/>
                    <a:lstStyle/>
                    <a:p>
                      <a:pPr indent="0" marL="0">
                        <a:buNone/>
                      </a:pPr>
                      <a:r>
                        <a:rPr lang="en-US" sz="1300" b="1" dirty="0">
                          <a:solidFill>
                            <a:schemeClr val="tx1"/>
                          </a:solidFill>
                        </a:rPr>
                        <a:t>Platform-native control</a:t>
                      </a:r>
                      <a:endParaRPr lang="en-US" sz="13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Microsoft Agent 365 (Entra Agent ID, Purview)</a:t>
                      </a:r>
                      <a:endParaRPr lang="en-US" sz="13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Registry and lifecycle for agents on one vendor's platform</a:t>
                      </a:r>
                      <a:endParaRPr lang="en-US" sz="13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4"/>
                          </a:solidFill>
                        </a:rPr>
                        <a:t>Tied to one ecosystem; limited regulatory reasoning</a:t>
                      </a:r>
                      <a:endParaRPr lang="en-US" sz="13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914400">
                <a:tc>
                  <a:txBody>
                    <a:bodyPr/>
                    <a:lstStyle/>
                    <a:p>
                      <a:pPr indent="0" marL="0">
                        <a:buNone/>
                      </a:pPr>
                      <a:r>
                        <a:rPr lang="en-US" sz="1300" b="1" dirty="0">
                          <a:solidFill>
                            <a:schemeClr val="tx1"/>
                          </a:solidFill>
                        </a:rPr>
                        <a:t>Model observability</a:t>
                      </a:r>
                      <a:endParaRPr lang="en-US" sz="13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Arthur, Fiddler, Arize</a:t>
                      </a:r>
                      <a:endParaRPr lang="en-US" sz="13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Performance, drift and bias monitoring</a:t>
                      </a:r>
                      <a:endParaRPr lang="en-US" sz="13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4"/>
                          </a:solidFill>
                        </a:rPr>
                        <a:t>No link from monitoring back to approval and accountability</a:t>
                      </a:r>
                      <a:endParaRPr lang="en-US" sz="13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577840"/>
            <a:ext cx="11064240" cy="548640"/>
          </a:xfrm>
          <a:prstGeom prst="rect">
            <a:avLst/>
          </a:prstGeom>
          <a:noFill/>
          <a:ln/>
        </p:spPr>
        <p:txBody>
          <a:bodyPr wrap="square" lIns="0" tIns="0" rIns="0" bIns="0" rtlCol="0" anchor="t"/>
          <a:lstStyle/>
          <a:p>
            <a:pPr indent="0" marL="0">
              <a:buNone/>
            </a:pPr>
            <a:r>
              <a:rPr lang="en-US" sz="1300" i="1" dirty="0">
                <a:solidFill>
                  <a:schemeClr val="accent5"/>
                </a:solidFill>
              </a:rPr>
              <a:t>Consolidation in 2025–26: Lakera to Check Point, CalypsoAI to F5, Prompt Security to SentinelOne, Aim Security to Cato Networks.</a:t>
            </a:r>
            <a:endParaRPr lang="en-US" sz="1300" dirty="0"/>
          </a:p>
        </p:txBody>
      </p:sp>
      <p:sp>
        <p:nvSpPr>
          <p:cNvPr id="25" name="Slide Number Placeholder 0"/>
          <p:cNvSpPr>
            <a:spLocks noGrp="1"/>
          </p:cNvSpPr>
          <p:nvPr>
            <p:ph type="sldNum" sz="quarter" idx="4294967295"/>
          </p:nvPr>
        </p:nvSpPr>
        <p:spPr>
          <a:xfrm>
            <a:off x="11247120" y="635508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How ASTRA is different</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5120640"/>
                <a:gridCol w="1280160"/>
                <a:gridCol w="1645920"/>
                <a:gridCol w="1463040"/>
                <a:gridCol w="1554480"/>
              </a:tblGrid>
              <a:tr h="457200">
                <a:tc>
                  <a:txBody>
                    <a:bodyPr/>
                    <a:lstStyle/>
                    <a:p>
                      <a:pPr algn="l" indent="0" marL="0">
                        <a:buNone/>
                      </a:pPr>
                      <a:endParaRPr lang="en-US" sz="14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ASTRA</a:t>
                      </a:r>
                      <a:endParaRPr lang="en-US" sz="14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accent2"/>
                    </a:solidFill>
                  </a:tcPr>
                </a:tc>
                <a:tc>
                  <a:txBody>
                    <a:bodyPr/>
                    <a:lstStyle/>
                    <a:p>
                      <a:pPr algn="ctr" indent="0" marL="0">
                        <a:buNone/>
                      </a:pPr>
                      <a:r>
                        <a:rPr lang="en-US" sz="1400" b="1" dirty="0">
                          <a:solidFill>
                            <a:schemeClr val="bg1"/>
                          </a:solidFill>
                        </a:rPr>
                        <a:t>Governance platforms</a:t>
                      </a:r>
                      <a:endParaRPr lang="en-US" sz="14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Agent security</a:t>
                      </a:r>
                      <a:endParaRPr lang="en-US" sz="14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Model observability</a:t>
                      </a:r>
                      <a:endParaRPr lang="en-US" sz="14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r>
              <a:tr h="658368">
                <a:tc>
                  <a:txBody>
                    <a:bodyPr/>
                    <a:lstStyle/>
                    <a:p>
                      <a:pPr algn="l" indent="0" marL="0">
                        <a:buNone/>
                      </a:pPr>
                      <a:r>
                        <a:rPr lang="en-US" sz="1500" dirty="0">
                          <a:solidFill>
                            <a:schemeClr val="tx1"/>
                          </a:solidFill>
                        </a:rPr>
                        <a:t>A formal model of the design (Secure Tropos), not a questionnaire</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2"/>
                          </a:solidFill>
                        </a:rPr>
                        <a:t>Yes</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accent5"/>
                          </a:solidFill>
                        </a:rPr>
                        <a:t>No</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accent5"/>
                          </a:solidFill>
                        </a:rPr>
                        <a:t>No</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accent5"/>
                          </a:solidFill>
                        </a:rPr>
                        <a:t>No</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658368">
                <a:tc>
                  <a:txBody>
                    <a:bodyPr/>
                    <a:lstStyle/>
                    <a:p>
                      <a:pPr algn="l" indent="0" marL="0">
                        <a:buNone/>
                      </a:pPr>
                      <a:r>
                        <a:rPr lang="en-US" sz="1500" dirty="0">
                          <a:solidFill>
                            <a:schemeClr val="tx1"/>
                          </a:solidFill>
                        </a:rPr>
                        <a:t>The signed design is the baseline that runtime checks compare against</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2"/>
                          </a:solidFill>
                        </a:rPr>
                        <a:t>Yes</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2"/>
                          </a:solidFill>
                        </a:rPr>
                        <a:t>Partly</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2"/>
                          </a:solidFill>
                        </a:rPr>
                        <a:t>Partly</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accent5"/>
                          </a:solidFill>
                        </a:rPr>
                        <a:t>No</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658368">
                <a:tc>
                  <a:txBody>
                    <a:bodyPr/>
                    <a:lstStyle/>
                    <a:p>
                      <a:pPr algn="l" indent="0" marL="0">
                        <a:buNone/>
                      </a:pPr>
                      <a:r>
                        <a:rPr lang="en-US" sz="1500" dirty="0">
                          <a:solidFill>
                            <a:schemeClr val="tx1"/>
                          </a:solidFill>
                        </a:rPr>
                        <a:t>Agents and models in one platform, on one organisation model</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2"/>
                          </a:solidFill>
                        </a:rPr>
                        <a:t>Yes</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2"/>
                          </a:solidFill>
                        </a:rPr>
                        <a:t>Partly</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2"/>
                          </a:solidFill>
                        </a:rPr>
                        <a:t>Partly</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2"/>
                          </a:solidFill>
                        </a:rPr>
                        <a:t>Partly</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658368">
                <a:tc>
                  <a:txBody>
                    <a:bodyPr/>
                    <a:lstStyle/>
                    <a:p>
                      <a:pPr algn="l" indent="0" marL="0">
                        <a:buNone/>
                      </a:pPr>
                      <a:r>
                        <a:rPr lang="en-US" sz="1500" dirty="0">
                          <a:solidFill>
                            <a:schemeClr val="tx1"/>
                          </a:solidFill>
                        </a:rPr>
                        <a:t>Declared versus observed risk shown side by side</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2"/>
                          </a:solidFill>
                        </a:rPr>
                        <a:t>Yes</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accent5"/>
                          </a:solidFill>
                        </a:rPr>
                        <a:t>No</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accent5"/>
                          </a:solidFill>
                        </a:rPr>
                        <a:t>No</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2"/>
                          </a:solidFill>
                        </a:rPr>
                        <a:t>Partly</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658368">
                <a:tc>
                  <a:txBody>
                    <a:bodyPr/>
                    <a:lstStyle/>
                    <a:p>
                      <a:pPr algn="l" indent="0" marL="0">
                        <a:buNone/>
                      </a:pPr>
                      <a:r>
                        <a:rPr lang="en-US" sz="1500" dirty="0">
                          <a:solidFill>
                            <a:schemeClr val="tx1"/>
                          </a:solidFill>
                        </a:rPr>
                        <a:t>AI-proposed rules must quote the regulation verbatim and need human approval</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2"/>
                          </a:solidFill>
                        </a:rPr>
                        <a:t>Yes</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accent5"/>
                          </a:solidFill>
                        </a:rPr>
                        <a:t>No</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accent5"/>
                          </a:solidFill>
                        </a:rPr>
                        <a:t>No</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accent5"/>
                          </a:solidFill>
                        </a:rPr>
                        <a:t>No</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658368">
                <a:tc>
                  <a:txBody>
                    <a:bodyPr/>
                    <a:lstStyle/>
                    <a:p>
                      <a:pPr algn="l" indent="0" marL="0">
                        <a:buNone/>
                      </a:pPr>
                      <a:r>
                        <a:rPr lang="en-US" sz="1500" dirty="0">
                          <a:solidFill>
                            <a:schemeClr val="tx1"/>
                          </a:solidFill>
                        </a:rPr>
                        <a:t>Local AI model; runtime sends names and statistics, never content</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2"/>
                          </a:solidFill>
                        </a:rPr>
                        <a:t>Yes</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2"/>
                          </a:solidFill>
                        </a:rPr>
                        <a:t>Partly</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2"/>
                          </a:solidFill>
                        </a:rPr>
                        <a:t>Partly</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2"/>
                          </a:solidFill>
                        </a:rPr>
                        <a:t>Partly</a:t>
                      </a:r>
                      <a:endParaRPr lang="en-US" sz="1500" dirty="0"/>
                    </a:p>
                  </a:txBody>
                  <a:tcPr marL="73152" marR="73152" marT="73152" marB="7315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897880"/>
            <a:ext cx="11064240" cy="320040"/>
          </a:xfrm>
          <a:prstGeom prst="rect">
            <a:avLst/>
          </a:prstGeom>
          <a:noFill/>
          <a:ln/>
        </p:spPr>
        <p:txBody>
          <a:bodyPr wrap="square" lIns="0" tIns="0" rIns="0" bIns="0" rtlCol="0" anchor="t"/>
          <a:lstStyle/>
          <a:p>
            <a:pPr indent="0" marL="0">
              <a:buNone/>
            </a:pPr>
            <a:r>
              <a:rPr lang="en-US" sz="1200" i="1" dirty="0">
                <a:solidFill>
                  <a:schemeClr val="accent5"/>
                </a:solidFill>
              </a:rPr>
              <a:t>Partly = in some products or in part.  No = not typical of the category.  Indicative, from public product descriptions in 2026; individual vendors may do more.</a:t>
            </a:r>
            <a:endParaRPr lang="en-US" sz="1200" dirty="0"/>
          </a:p>
        </p:txBody>
      </p:sp>
      <p:sp>
        <p:nvSpPr>
          <p:cNvPr id="25" name="Slide Number Placeholder 0"/>
          <p:cNvSpPr>
            <a:spLocks noGrp="1"/>
          </p:cNvSpPr>
          <p:nvPr>
            <p:ph type="sldNum" sz="quarter" idx="4294967295"/>
          </p:nvPr>
        </p:nvSpPr>
        <p:spPr>
          <a:xfrm>
            <a:off x="11247120" y="635508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Positioning: an independent assurance layer</a:t>
            </a:r>
            <a:endParaRPr lang="en-US" sz="3200" dirty="0"/>
          </a:p>
        </p:txBody>
      </p:sp>
      <p:sp>
        <p:nvSpPr>
          <p:cNvPr id="3" name="statement"/>
          <p:cNvSpPr/>
          <p:nvPr/>
        </p:nvSpPr>
        <p:spPr>
          <a:xfrm>
            <a:off x="548640" y="1371600"/>
            <a:ext cx="11064240" cy="1371600"/>
          </a:xfrm>
          <a:prstGeom prst="roundRect">
            <a:avLst>
              <a:gd name="adj" fmla="val 5333"/>
            </a:avLst>
          </a:prstGeom>
          <a:solidFill>
            <a:schemeClr val="tx2"/>
          </a:solidFill>
          <a:ln w="6350">
            <a:solidFill>
              <a:schemeClr val="tx2"/>
            </a:solidFill>
            <a:prstDash val="solid"/>
          </a:ln>
          <a:effectLst>
            <a:outerShdw sx="100000" sy="100000" kx="0" ky="0" algn="bl" rotWithShape="0" blurRad="76200" dist="25400" dir="5400000">
              <a:srgbClr val="1B2430">
                <a:alpha val="12000"/>
              </a:srgbClr>
            </a:outerShdw>
          </a:effectLst>
        </p:spPr>
      </p:sp>
      <p:sp>
        <p:nvSpPr>
          <p:cNvPr id="4" name="Text 2"/>
          <p:cNvSpPr txBox="1"/>
          <p:nvPr/>
        </p:nvSpPr>
        <p:spPr>
          <a:xfrm>
            <a:off x="914400" y="1463040"/>
            <a:ext cx="10332720" cy="118872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ASTRA proves that the AI an organisation runs is the AI it approved, and shows the evidence when it is not.</a:t>
            </a:r>
            <a:endParaRPr lang="en-US" sz="2200" dirty="0"/>
          </a:p>
        </p:txBody>
      </p:sp>
      <p:sp>
        <p:nvSpPr>
          <p:cNvPr id="5" name="segment"/>
          <p:cNvSpPr/>
          <p:nvPr/>
        </p:nvSpPr>
        <p:spPr>
          <a:xfrm>
            <a:off x="548640" y="3063240"/>
            <a:ext cx="3474720" cy="2743200"/>
          </a:xfrm>
          <a:prstGeom prst="roundRect">
            <a:avLst>
              <a:gd name="adj" fmla="val 2667"/>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6" name="badge"/>
          <p:cNvSpPr/>
          <p:nvPr/>
        </p:nvSpPr>
        <p:spPr>
          <a:xfrm>
            <a:off x="822960" y="3291840"/>
            <a:ext cx="457200" cy="457200"/>
          </a:xfrm>
          <a:prstGeom prst="ellipse">
            <a:avLst/>
          </a:prstGeom>
          <a:solidFill>
            <a:schemeClr val="accent2"/>
          </a:solidFill>
          <a:ln w="12700">
            <a:solidFill>
              <a:schemeClr val="accent2"/>
            </a:solidFill>
            <a:prstDash val="solid"/>
          </a:ln>
        </p:spPr>
      </p:sp>
      <p:sp>
        <p:nvSpPr>
          <p:cNvPr id="7" name="Text 5"/>
          <p:cNvSpPr txBox="1"/>
          <p:nvPr/>
        </p:nvSpPr>
        <p:spPr>
          <a:xfrm>
            <a:off x="822960" y="3291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6"/>
          <p:cNvSpPr txBox="1"/>
          <p:nvPr/>
        </p:nvSpPr>
        <p:spPr>
          <a:xfrm>
            <a:off x="822960" y="3886200"/>
            <a:ext cx="2926080" cy="640080"/>
          </a:xfrm>
          <a:prstGeom prst="rect">
            <a:avLst/>
          </a:prstGeom>
          <a:noFill/>
          <a:ln/>
        </p:spPr>
        <p:txBody>
          <a:bodyPr wrap="square" lIns="0" tIns="0" rIns="0" bIns="0" rtlCol="0" anchor="t"/>
          <a:lstStyle/>
          <a:p>
            <a:pPr indent="0" marL="0">
              <a:buNone/>
            </a:pPr>
            <a:r>
              <a:rPr lang="en-US" sz="1700" b="1" dirty="0">
                <a:solidFill>
                  <a:schemeClr val="tx2"/>
                </a:solidFill>
              </a:rPr>
              <a:t>Public sector and national bodies</a:t>
            </a:r>
            <a:endParaRPr lang="en-US" sz="1700" dirty="0"/>
          </a:p>
        </p:txBody>
      </p:sp>
      <p:sp>
        <p:nvSpPr>
          <p:cNvPr id="9" name="Text 7"/>
          <p:cNvSpPr txBox="1"/>
          <p:nvPr/>
        </p:nvSpPr>
        <p:spPr>
          <a:xfrm>
            <a:off x="822960" y="4572000"/>
            <a:ext cx="2926080" cy="1097280"/>
          </a:xfrm>
          <a:prstGeom prst="rect">
            <a:avLst/>
          </a:prstGeom>
          <a:noFill/>
          <a:ln/>
        </p:spPr>
        <p:txBody>
          <a:bodyPr wrap="square" lIns="0" tIns="0" rIns="0" bIns="0" rtlCol="0" anchor="t"/>
          <a:lstStyle/>
          <a:p>
            <a:pPr indent="0" marL="0">
              <a:buNone/>
            </a:pPr>
            <a:r>
              <a:rPr lang="en-US" sz="1500" dirty="0">
                <a:solidFill>
                  <a:schemeClr val="tx1"/>
                </a:solidFill>
              </a:rPr>
              <a:t>A common method to oversee AI across ministries and agencies, with national visibility of risk and accountability</a:t>
            </a:r>
            <a:endParaRPr lang="en-US" sz="1500" dirty="0"/>
          </a:p>
        </p:txBody>
      </p:sp>
      <p:sp>
        <p:nvSpPr>
          <p:cNvPr id="10" name="segment"/>
          <p:cNvSpPr/>
          <p:nvPr/>
        </p:nvSpPr>
        <p:spPr>
          <a:xfrm>
            <a:off x="4297680" y="3063240"/>
            <a:ext cx="3474720" cy="2743200"/>
          </a:xfrm>
          <a:prstGeom prst="roundRect">
            <a:avLst>
              <a:gd name="adj" fmla="val 2667"/>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11" name="badge"/>
          <p:cNvSpPr/>
          <p:nvPr/>
        </p:nvSpPr>
        <p:spPr>
          <a:xfrm>
            <a:off x="4572000" y="3291840"/>
            <a:ext cx="457200" cy="457200"/>
          </a:xfrm>
          <a:prstGeom prst="ellipse">
            <a:avLst/>
          </a:prstGeom>
          <a:solidFill>
            <a:schemeClr val="accent2"/>
          </a:solidFill>
          <a:ln w="12700">
            <a:solidFill>
              <a:schemeClr val="accent2"/>
            </a:solidFill>
            <a:prstDash val="solid"/>
          </a:ln>
        </p:spPr>
      </p:sp>
      <p:sp>
        <p:nvSpPr>
          <p:cNvPr id="12" name="Text 10"/>
          <p:cNvSpPr txBox="1"/>
          <p:nvPr/>
        </p:nvSpPr>
        <p:spPr>
          <a:xfrm>
            <a:off x="4572000" y="3291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1"/>
          <p:cNvSpPr txBox="1"/>
          <p:nvPr/>
        </p:nvSpPr>
        <p:spPr>
          <a:xfrm>
            <a:off x="4572000" y="3886200"/>
            <a:ext cx="2926080" cy="640080"/>
          </a:xfrm>
          <a:prstGeom prst="rect">
            <a:avLst/>
          </a:prstGeom>
          <a:noFill/>
          <a:ln/>
        </p:spPr>
        <p:txBody>
          <a:bodyPr wrap="square" lIns="0" tIns="0" rIns="0" bIns="0" rtlCol="0" anchor="t"/>
          <a:lstStyle/>
          <a:p>
            <a:pPr indent="0" marL="0">
              <a:buNone/>
            </a:pPr>
            <a:r>
              <a:rPr lang="en-US" sz="1700" b="1" dirty="0">
                <a:solidFill>
                  <a:schemeClr val="tx2"/>
                </a:solidFill>
              </a:rPr>
              <a:t>Regulated organisations</a:t>
            </a:r>
            <a:endParaRPr lang="en-US" sz="1700" dirty="0"/>
          </a:p>
        </p:txBody>
      </p:sp>
      <p:sp>
        <p:nvSpPr>
          <p:cNvPr id="14" name="Text 12"/>
          <p:cNvSpPr txBox="1"/>
          <p:nvPr/>
        </p:nvSpPr>
        <p:spPr>
          <a:xfrm>
            <a:off x="4572000" y="4572000"/>
            <a:ext cx="2926080" cy="1097280"/>
          </a:xfrm>
          <a:prstGeom prst="rect">
            <a:avLst/>
          </a:prstGeom>
          <a:noFill/>
          <a:ln/>
        </p:spPr>
        <p:txBody>
          <a:bodyPr wrap="square" lIns="0" tIns="0" rIns="0" bIns="0" rtlCol="0" anchor="t"/>
          <a:lstStyle/>
          <a:p>
            <a:pPr indent="0" marL="0">
              <a:buNone/>
            </a:pPr>
            <a:r>
              <a:rPr lang="en-US" sz="1500" dirty="0">
                <a:solidFill>
                  <a:schemeClr val="tx1"/>
                </a:solidFill>
              </a:rPr>
              <a:t>Evidence for the EU AI Act, GDPR and sector supervisors, from design through operation</a:t>
            </a:r>
            <a:endParaRPr lang="en-US" sz="1500" dirty="0"/>
          </a:p>
        </p:txBody>
      </p:sp>
      <p:sp>
        <p:nvSpPr>
          <p:cNvPr id="15" name="segment"/>
          <p:cNvSpPr/>
          <p:nvPr/>
        </p:nvSpPr>
        <p:spPr>
          <a:xfrm>
            <a:off x="8046720" y="3063240"/>
            <a:ext cx="3474720" cy="2743200"/>
          </a:xfrm>
          <a:prstGeom prst="roundRect">
            <a:avLst>
              <a:gd name="adj" fmla="val 2667"/>
            </a:avLst>
          </a:prstGeom>
          <a:solidFill>
            <a:schemeClr val="bg2"/>
          </a:solidFill>
          <a:ln w="6350">
            <a:solidFill>
              <a:schemeClr val="bg2"/>
            </a:solidFill>
            <a:prstDash val="solid"/>
          </a:ln>
          <a:effectLst>
            <a:outerShdw sx="100000" sy="100000" kx="0" ky="0" algn="bl" rotWithShape="0" blurRad="76200" dist="25400" dir="5400000">
              <a:srgbClr val="1B2430">
                <a:alpha val="12000"/>
              </a:srgbClr>
            </a:outerShdw>
          </a:effectLst>
        </p:spPr>
      </p:sp>
      <p:sp>
        <p:nvSpPr>
          <p:cNvPr id="16" name="badge"/>
          <p:cNvSpPr/>
          <p:nvPr/>
        </p:nvSpPr>
        <p:spPr>
          <a:xfrm>
            <a:off x="8321040" y="3291840"/>
            <a:ext cx="457200" cy="457200"/>
          </a:xfrm>
          <a:prstGeom prst="ellipse">
            <a:avLst/>
          </a:prstGeom>
          <a:solidFill>
            <a:schemeClr val="accent2"/>
          </a:solidFill>
          <a:ln w="12700">
            <a:solidFill>
              <a:schemeClr val="accent2"/>
            </a:solidFill>
            <a:prstDash val="solid"/>
          </a:ln>
        </p:spPr>
      </p:sp>
      <p:sp>
        <p:nvSpPr>
          <p:cNvPr id="17" name="Text 15"/>
          <p:cNvSpPr txBox="1"/>
          <p:nvPr/>
        </p:nvSpPr>
        <p:spPr>
          <a:xfrm>
            <a:off x="8321040" y="3291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6"/>
          <p:cNvSpPr txBox="1"/>
          <p:nvPr/>
        </p:nvSpPr>
        <p:spPr>
          <a:xfrm>
            <a:off x="8321040" y="3886200"/>
            <a:ext cx="2926080" cy="640080"/>
          </a:xfrm>
          <a:prstGeom prst="rect">
            <a:avLst/>
          </a:prstGeom>
          <a:noFill/>
          <a:ln/>
        </p:spPr>
        <p:txBody>
          <a:bodyPr wrap="square" lIns="0" tIns="0" rIns="0" bIns="0" rtlCol="0" anchor="t"/>
          <a:lstStyle/>
          <a:p>
            <a:pPr indent="0" marL="0">
              <a:buNone/>
            </a:pPr>
            <a:r>
              <a:rPr lang="en-US" sz="1700" b="1" dirty="0">
                <a:solidFill>
                  <a:schemeClr val="tx2"/>
                </a:solidFill>
              </a:rPr>
              <a:t>Research and standards partners</a:t>
            </a:r>
            <a:endParaRPr lang="en-US" sz="1700" dirty="0"/>
          </a:p>
        </p:txBody>
      </p:sp>
      <p:sp>
        <p:nvSpPr>
          <p:cNvPr id="19" name="Text 17"/>
          <p:cNvSpPr txBox="1"/>
          <p:nvPr/>
        </p:nvSpPr>
        <p:spPr>
          <a:xfrm>
            <a:off x="8321040" y="4572000"/>
            <a:ext cx="2926080" cy="1097280"/>
          </a:xfrm>
          <a:prstGeom prst="rect">
            <a:avLst/>
          </a:prstGeom>
          <a:noFill/>
          <a:ln/>
        </p:spPr>
        <p:txBody>
          <a:bodyPr wrap="square" lIns="0" tIns="0" rIns="0" bIns="0" rtlCol="0" anchor="t"/>
          <a:lstStyle/>
          <a:p>
            <a:pPr indent="0" marL="0">
              <a:buNone/>
            </a:pPr>
            <a:r>
              <a:rPr lang="en-US" sz="1500" dirty="0">
                <a:solidFill>
                  <a:schemeClr val="tx1"/>
                </a:solidFill>
              </a:rPr>
              <a:t>An open, academically grounded method that can be validated, published and adapted</a:t>
            </a:r>
            <a:endParaRPr lang="en-US" sz="1500" dirty="0"/>
          </a:p>
        </p:txBody>
      </p:sp>
      <p:sp>
        <p:nvSpPr>
          <p:cNvPr id="25" name="Slide Number Placeholder 0"/>
          <p:cNvSpPr>
            <a:spLocks noGrp="1"/>
          </p:cNvSpPr>
          <p:nvPr>
            <p:ph type="sldNum" sz="quarter" idx="4294967295"/>
          </p:nvPr>
        </p:nvSpPr>
        <p:spPr>
          <a:xfrm>
            <a:off x="11247120" y="635508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28016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Next steps</a:t>
            </a:r>
            <a:endParaRPr lang="en-US" sz="5400" dirty="0"/>
          </a:p>
        </p:txBody>
      </p:sp>
      <p:sp>
        <p:nvSpPr>
          <p:cNvPr id="3" name="badge"/>
          <p:cNvSpPr/>
          <p:nvPr/>
        </p:nvSpPr>
        <p:spPr>
          <a:xfrm>
            <a:off x="731520" y="3429000"/>
            <a:ext cx="438912" cy="438912"/>
          </a:xfrm>
          <a:prstGeom prst="ellipse">
            <a:avLst/>
          </a:prstGeom>
          <a:solidFill>
            <a:schemeClr val="accent2"/>
          </a:solidFill>
          <a:ln w="12700">
            <a:solidFill>
              <a:schemeClr val="accent2"/>
            </a:solidFill>
            <a:prstDash val="solid"/>
          </a:ln>
        </p:spPr>
      </p:sp>
      <p:sp>
        <p:nvSpPr>
          <p:cNvPr id="4" name="Text 2"/>
          <p:cNvSpPr txBox="1"/>
          <p:nvPr/>
        </p:nvSpPr>
        <p:spPr>
          <a:xfrm>
            <a:off x="731520" y="3429000"/>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5" name="Text 3"/>
          <p:cNvSpPr txBox="1"/>
          <p:nvPr/>
        </p:nvSpPr>
        <p:spPr>
          <a:xfrm>
            <a:off x="1371600" y="3429000"/>
            <a:ext cx="9601200" cy="438912"/>
          </a:xfrm>
          <a:prstGeom prst="rect">
            <a:avLst/>
          </a:prstGeom>
          <a:noFill/>
          <a:ln/>
        </p:spPr>
        <p:txBody>
          <a:bodyPr wrap="square" lIns="0" tIns="0" rIns="0" bIns="0" rtlCol="0" anchor="ctr"/>
          <a:lstStyle/>
          <a:p>
            <a:pPr indent="0" marL="0">
              <a:buNone/>
            </a:pPr>
            <a:r>
              <a:rPr lang="en-US" sz="2000" dirty="0">
                <a:solidFill>
                  <a:schemeClr val="bg1"/>
                </a:solidFill>
              </a:rPr>
              <a:t>Pilot on one real department or national use case</a:t>
            </a:r>
            <a:endParaRPr lang="en-US" sz="2000" dirty="0"/>
          </a:p>
        </p:txBody>
      </p:sp>
      <p:sp>
        <p:nvSpPr>
          <p:cNvPr id="6" name="badge"/>
          <p:cNvSpPr/>
          <p:nvPr/>
        </p:nvSpPr>
        <p:spPr>
          <a:xfrm>
            <a:off x="731520" y="4050792"/>
            <a:ext cx="438912" cy="438912"/>
          </a:xfrm>
          <a:prstGeom prst="ellipse">
            <a:avLst/>
          </a:prstGeom>
          <a:solidFill>
            <a:schemeClr val="accent2"/>
          </a:solidFill>
          <a:ln w="12700">
            <a:solidFill>
              <a:schemeClr val="accent2"/>
            </a:solidFill>
            <a:prstDash val="solid"/>
          </a:ln>
        </p:spPr>
      </p:sp>
      <p:sp>
        <p:nvSpPr>
          <p:cNvPr id="7" name="Text 5"/>
          <p:cNvSpPr txBox="1"/>
          <p:nvPr/>
        </p:nvSpPr>
        <p:spPr>
          <a:xfrm>
            <a:off x="731520" y="4050792"/>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8" name="Text 6"/>
          <p:cNvSpPr txBox="1"/>
          <p:nvPr/>
        </p:nvSpPr>
        <p:spPr>
          <a:xfrm>
            <a:off x="1371600" y="4050792"/>
            <a:ext cx="9601200" cy="438912"/>
          </a:xfrm>
          <a:prstGeom prst="rect">
            <a:avLst/>
          </a:prstGeom>
          <a:noFill/>
          <a:ln/>
        </p:spPr>
        <p:txBody>
          <a:bodyPr wrap="square" lIns="0" tIns="0" rIns="0" bIns="0" rtlCol="0" anchor="ctr"/>
          <a:lstStyle/>
          <a:p>
            <a:pPr indent="0" marL="0">
              <a:buNone/>
            </a:pPr>
            <a:r>
              <a:rPr lang="en-US" sz="2000" dirty="0">
                <a:solidFill>
                  <a:schemeClr val="bg1"/>
                </a:solidFill>
              </a:rPr>
              <a:t>Calibrate the scoring weights and thresholds on real systems</a:t>
            </a:r>
            <a:endParaRPr lang="en-US" sz="2000" dirty="0"/>
          </a:p>
        </p:txBody>
      </p:sp>
      <p:sp>
        <p:nvSpPr>
          <p:cNvPr id="9" name="badge"/>
          <p:cNvSpPr/>
          <p:nvPr/>
        </p:nvSpPr>
        <p:spPr>
          <a:xfrm>
            <a:off x="731520" y="4672584"/>
            <a:ext cx="438912" cy="438912"/>
          </a:xfrm>
          <a:prstGeom prst="ellipse">
            <a:avLst/>
          </a:prstGeom>
          <a:solidFill>
            <a:schemeClr val="accent2"/>
          </a:solidFill>
          <a:ln w="12700">
            <a:solidFill>
              <a:schemeClr val="accent2"/>
            </a:solidFill>
            <a:prstDash val="solid"/>
          </a:ln>
        </p:spPr>
      </p:sp>
      <p:sp>
        <p:nvSpPr>
          <p:cNvPr id="10" name="Text 8"/>
          <p:cNvSpPr txBox="1"/>
          <p:nvPr/>
        </p:nvSpPr>
        <p:spPr>
          <a:xfrm>
            <a:off x="731520" y="4672584"/>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1" name="Text 9"/>
          <p:cNvSpPr txBox="1"/>
          <p:nvPr/>
        </p:nvSpPr>
        <p:spPr>
          <a:xfrm>
            <a:off x="1371600" y="4672584"/>
            <a:ext cx="9601200" cy="438912"/>
          </a:xfrm>
          <a:prstGeom prst="rect">
            <a:avLst/>
          </a:prstGeom>
          <a:noFill/>
          <a:ln/>
        </p:spPr>
        <p:txBody>
          <a:bodyPr wrap="square" lIns="0" tIns="0" rIns="0" bIns="0" rtlCol="0" anchor="ctr"/>
          <a:lstStyle/>
          <a:p>
            <a:pPr indent="0" marL="0">
              <a:buNone/>
            </a:pPr>
            <a:r>
              <a:rPr lang="en-US" sz="2000" dirty="0">
                <a:solidFill>
                  <a:schemeClr val="bg1"/>
                </a:solidFill>
              </a:rPr>
              <a:t>Publish the formal language and analysis method</a:t>
            </a:r>
            <a:endParaRPr lang="en-US" sz="2000" dirty="0"/>
          </a:p>
        </p:txBody>
      </p:sp>
      <p:sp>
        <p:nvSpPr>
          <p:cNvPr id="12" name="badge"/>
          <p:cNvSpPr/>
          <p:nvPr/>
        </p:nvSpPr>
        <p:spPr>
          <a:xfrm>
            <a:off x="731520" y="5294376"/>
            <a:ext cx="438912" cy="438912"/>
          </a:xfrm>
          <a:prstGeom prst="ellipse">
            <a:avLst/>
          </a:prstGeom>
          <a:solidFill>
            <a:schemeClr val="accent2"/>
          </a:solidFill>
          <a:ln w="12700">
            <a:solidFill>
              <a:schemeClr val="accent2"/>
            </a:solidFill>
            <a:prstDash val="solid"/>
          </a:ln>
        </p:spPr>
      </p:sp>
      <p:sp>
        <p:nvSpPr>
          <p:cNvPr id="13" name="Text 11"/>
          <p:cNvSpPr txBox="1"/>
          <p:nvPr/>
        </p:nvSpPr>
        <p:spPr>
          <a:xfrm>
            <a:off x="731520" y="5294376"/>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4" name="Text 12"/>
          <p:cNvSpPr txBox="1"/>
          <p:nvPr/>
        </p:nvSpPr>
        <p:spPr>
          <a:xfrm>
            <a:off x="1371600" y="5294376"/>
            <a:ext cx="9601200" cy="438912"/>
          </a:xfrm>
          <a:prstGeom prst="rect">
            <a:avLst/>
          </a:prstGeom>
          <a:noFill/>
          <a:ln/>
        </p:spPr>
        <p:txBody>
          <a:bodyPr wrap="square" lIns="0" tIns="0" rIns="0" bIns="0" rtlCol="0" anchor="ctr"/>
          <a:lstStyle/>
          <a:p>
            <a:pPr indent="0" marL="0">
              <a:buNone/>
            </a:pPr>
            <a:r>
              <a:rPr lang="en-US" sz="2000" dirty="0">
                <a:solidFill>
                  <a:schemeClr val="bg1"/>
                </a:solidFill>
              </a:rPr>
              <a:t>Extend the SDKs and move the structural review to the server</a:t>
            </a:r>
            <a:endParaRPr lang="en-US" sz="2000" dirty="0"/>
          </a:p>
        </p:txBody>
      </p:sp>
      <p:sp>
        <p:nvSpPr>
          <p:cNvPr id="16" name="Text 0"/>
          <p:cNvSpPr/>
          <p:nvPr>
            <p:ph idx="101" type="body" hasCustomPrompt="1"/>
          </p:nvPr>
        </p:nvSpPr>
        <p:spPr>
          <a:xfrm>
            <a:off x="731520" y="3383280"/>
            <a:ext cx="10058400" cy="1463040"/>
          </a:xfrm>
          <a:prstGeom prst="rect">
            <a:avLst/>
          </a:prstGeom>
          <a:noFill/>
          <a:ln/>
        </p:spPr>
        <p:txBody>
          <a:bodyPr wrap="square" lIns="0" tIns="0" rIns="0" bIns="0" rtlCol="0" anchor="t"/>
          <a:lstStyle/>
          <a:p>
            <a:pPr indent="0" marL="0">
              <a:buNone/>
            </a:pP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Sources</a:t>
            </a:r>
            <a:endParaRPr lang="en-US" sz="3200" dirty="0"/>
          </a:p>
        </p:txBody>
      </p:sp>
      <p:sp>
        <p:nvSpPr>
          <p:cNvPr id="3" name="Text 1"/>
          <p:cNvSpPr txBox="1"/>
          <p:nvPr/>
        </p:nvSpPr>
        <p:spPr>
          <a:xfrm>
            <a:off x="548640" y="1325880"/>
            <a:ext cx="11064240" cy="484632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tx1"/>
                </a:solidFill>
              </a:rPr>
              <a:t>Mordor Intelligence, AI Governance Platforms Market (2026–2031). mordorintelligence.com/industry-reports/ai-governance-platforms-market</a:t>
            </a:r>
            <a:endParaRPr lang="en-US" sz="1400" dirty="0"/>
          </a:p>
          <a:p>
            <a:pPr marL="177800" indent="-177800">
              <a:spcAft>
                <a:spcPts val="800"/>
              </a:spcAft>
              <a:buSzPct val="100000"/>
              <a:buChar char="•"/>
            </a:pPr>
            <a:r>
              <a:rPr lang="en-US" sz="1400" dirty="0">
                <a:solidFill>
                  <a:schemeClr val="tx1"/>
                </a:solidFill>
              </a:rPr>
              <a:t>The Hacker News, 5 learnings from the first-ever Gartner Market Guide for Guardian Agents (March 2026). thehackernews.com/2026/03/5-learnings-from-first-ever-gartner.html</a:t>
            </a:r>
            <a:endParaRPr lang="en-US" sz="1400" dirty="0"/>
          </a:p>
          <a:p>
            <a:pPr marL="177800" indent="-177800">
              <a:spcAft>
                <a:spcPts val="800"/>
              </a:spcAft>
              <a:buSzPct val="100000"/>
              <a:buChar char="•"/>
            </a:pPr>
            <a:r>
              <a:rPr lang="en-US" sz="1400" dirty="0">
                <a:solidFill>
                  <a:schemeClr val="tx1"/>
                </a:solidFill>
              </a:rPr>
              <a:t>Sidley Data Matters, EU lawmakers reach provisional agreement to delay key EU AI Act obligations (June 2026). datamatters.sidley.com</a:t>
            </a:r>
            <a:endParaRPr lang="en-US" sz="1400" dirty="0"/>
          </a:p>
          <a:p>
            <a:pPr marL="177800" indent="-177800">
              <a:spcAft>
                <a:spcPts val="800"/>
              </a:spcAft>
              <a:buSzPct val="100000"/>
              <a:buChar char="•"/>
            </a:pPr>
            <a:r>
              <a:rPr lang="en-US" sz="1400" dirty="0">
                <a:solidFill>
                  <a:schemeClr val="tx1"/>
                </a:solidFill>
              </a:rPr>
              <a:t>Gibson Dunn, EU AI Act Omnibus agreement: postponed high-risk deadlines (2026). gibsondunn.com/eu-ai-act-omnibus-agreement</a:t>
            </a:r>
            <a:endParaRPr lang="en-US" sz="1400" dirty="0"/>
          </a:p>
          <a:p>
            <a:pPr marL="177800" indent="-177800">
              <a:spcAft>
                <a:spcPts val="800"/>
              </a:spcAft>
              <a:buSzPct val="100000"/>
              <a:buChar char="•"/>
            </a:pPr>
            <a:r>
              <a:rPr lang="en-US" sz="1400" dirty="0">
                <a:solidFill>
                  <a:schemeClr val="tx1"/>
                </a:solidFill>
              </a:rPr>
              <a:t>Arthur, Best AI agent security platforms for enterprises 2026 (vendor comparison, used for landscape and acquisitions). arthur.ai/column/best-ai-agent-security-platforms-2026</a:t>
            </a:r>
            <a:endParaRPr lang="en-US" sz="1400" dirty="0"/>
          </a:p>
          <a:p>
            <a:pPr marL="177800" indent="-177800">
              <a:spcAft>
                <a:spcPts val="800"/>
              </a:spcAft>
              <a:buSzPct val="100000"/>
              <a:buChar char="•"/>
            </a:pPr>
            <a:r>
              <a:rPr lang="en-US" sz="1400" dirty="0">
                <a:solidFill>
                  <a:schemeClr val="tx1"/>
                </a:solidFill>
              </a:rPr>
              <a:t>Kosmoy, Best AI agent governance platforms in 2026. kosmoy.com/resources/blog/best-ai-agent-governance-platforms-2026</a:t>
            </a:r>
            <a:endParaRPr lang="en-US" sz="1400" dirty="0"/>
          </a:p>
          <a:p>
            <a:pPr marL="177800" indent="-177800">
              <a:spcAft>
                <a:spcPts val="800"/>
              </a:spcAft>
              <a:buSzPct val="100000"/>
              <a:buChar char="•"/>
            </a:pPr>
            <a:r>
              <a:rPr lang="en-US" sz="1400" dirty="0">
                <a:solidFill>
                  <a:schemeClr val="tx1"/>
                </a:solidFill>
              </a:rPr>
              <a:t>Kovrr, Top AI governance platforms 2026 comparison guide. kovrr.com/blog-post/top-ai-governance-platforms-2026-comparison-guide</a:t>
            </a:r>
            <a:endParaRPr lang="en-US" sz="1400" dirty="0"/>
          </a:p>
          <a:p>
            <a:pPr marL="177800" indent="-177800">
              <a:spcAft>
                <a:spcPts val="800"/>
              </a:spcAft>
              <a:buSzPct val="100000"/>
              <a:buChar char="•"/>
            </a:pPr>
            <a:r>
              <a:rPr lang="en-US" sz="1400" dirty="0">
                <a:solidFill>
                  <a:schemeClr val="tx1"/>
                </a:solidFill>
              </a:rPr>
              <a:t>Mouratidis, H. and Giorgini, P. (2007). Secure Tropos: a security-oriented extension of the Tropos methodology. IJSEKE 17(2).</a:t>
            </a:r>
            <a:endParaRPr lang="en-US" sz="1400" dirty="0"/>
          </a:p>
          <a:p>
            <a:pPr marL="177800" indent="-177800">
              <a:spcAft>
                <a:spcPts val="800"/>
              </a:spcAft>
              <a:buSzPct val="100000"/>
              <a:buChar char="•"/>
            </a:pPr>
            <a:r>
              <a:rPr lang="en-US" sz="1400" dirty="0">
                <a:solidFill>
                  <a:schemeClr val="tx1"/>
                </a:solidFill>
              </a:rPr>
              <a:t>ASTRA repository: backend/schema.py, backend/framework/tropos_model.py, backend/compliance_engine.py, backend/rule_checks.py, sdk/python.</a:t>
            </a:r>
            <a:endParaRPr lang="en-US" sz="1400" dirty="0"/>
          </a:p>
        </p:txBody>
      </p:sp>
      <p:sp>
        <p:nvSpPr>
          <p:cNvPr id="25" name="Slide Number Placeholder 0"/>
          <p:cNvSpPr>
            <a:spLocks noGrp="1"/>
          </p:cNvSpPr>
          <p:nvPr>
            <p:ph type="sldNum" sz="quarter" idx="4294967295"/>
          </p:nvPr>
        </p:nvSpPr>
        <p:spPr>
          <a:xfrm>
            <a:off x="11247120" y="6355080"/>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STRA">
  <a:themeElements>
    <a:clrScheme name="ASTRA">
      <a:dk1>
        <a:srgbClr val="1B2430"/>
      </a:dk1>
      <a:lt1>
        <a:srgbClr val="FFFFFF"/>
      </a:lt1>
      <a:dk2>
        <a:srgbClr val="1F3A5F"/>
      </a:dk2>
      <a:lt2>
        <a:srgbClr val="EEF3F8"/>
      </a:lt2>
      <a:accent1>
        <a:srgbClr val="1F3A5F"/>
      </a:accent1>
      <a:accent2>
        <a:srgbClr val="D9822B"/>
      </a:accent2>
      <a:accent3>
        <a:srgbClr val="2E8B7A"/>
      </a:accent3>
      <a:accent4>
        <a:srgbClr val="B5403A"/>
      </a:accent4>
      <a:accent5>
        <a:srgbClr val="6B7A90"/>
      </a:accent5>
      <a:accent6>
        <a:srgbClr val="8FB3D9"/>
      </a:accent6>
      <a:hlink>
        <a:srgbClr val="1F3A5F"/>
      </a:hlink>
      <a:folHlink>
        <a:srgbClr val="6B7A90"/>
      </a:folHlink>
    </a:clrScheme>
    <a:fontScheme name="ASTR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ASTRA: language, progress and market position</dc:title>
  <dc:subject>PptxGenJS Presentation</dc:subject>
  <dc:creator>Institute for Analytics and Data Science, University of Essex</dc:creator>
  <cp:lastModifiedBy>Institute for Analytics and Data Science, University of Essex</cp:lastModifiedBy>
  <cp:revision>1</cp:revision>
  <dcterms:created xsi:type="dcterms:W3CDTF">2026-10-22T08:48:23Z</dcterms:created>
  <dcterms:modified xsi:type="dcterms:W3CDTF">2026-10-22T08:48:23Z</dcterms:modified>
</cp:coreProperties>
</file>